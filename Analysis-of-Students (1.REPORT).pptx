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5.svg" ContentType="image/svg+xml"/>
  <Override PartName="/ppt/media/image16.svg" ContentType="image/svg+xml"/>
  <Override PartName="/ppt/media/image17.svg" ContentType="image/svg+xml"/>
  <Override PartName="/ppt/media/image18.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64" r:id="rId11"/>
    <p:sldId id="265" r:id="rId12"/>
    <p:sldId id="266" r:id="rId13"/>
  </p:sldIdLst>
  <p:sldSz cx="14630400" cy="8229600"/>
  <p:notesSz cx="8229600" cy="14630400"/>
  <p:embeddedFontLst>
    <p:embeddedFont>
      <p:font typeface="Roboto Condensed" panose="02000000000000000000" pitchFamily="34" charset="0"/>
      <p:bold r:id="rId17"/>
    </p:embeddedFont>
    <p:embeddedFont>
      <p:font typeface="Roboto Condensed" panose="02000000000000000000" pitchFamily="34" charset="-122"/>
      <p:bold r:id="rId18"/>
    </p:embeddedFont>
    <p:embeddedFont>
      <p:font typeface="Roboto Condensed" panose="02000000000000000000" pitchFamily="34" charset="-120"/>
      <p:bold r:id="rId19"/>
    </p:embeddedFont>
    <p:embeddedFont>
      <p:font typeface="Calibri" panose="020F0502020204030204" charset="0"/>
      <p:regular r:id="rId20"/>
      <p:bold r:id="rId21"/>
      <p:italic r:id="rId22"/>
      <p:bold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7.svg"/><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5.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15.svg"/><Relationship Id="rId6" Type="http://schemas.openxmlformats.org/officeDocument/2006/relationships/image" Target="../media/image4.png"/><Relationship Id="rId5" Type="http://schemas.openxmlformats.org/officeDocument/2006/relationships/tags" Target="../tags/tag4.xml"/><Relationship Id="rId4" Type="http://schemas.openxmlformats.org/officeDocument/2006/relationships/tags" Target="../tags/tag3.xml"/><Relationship Id="rId32" Type="http://schemas.openxmlformats.org/officeDocument/2006/relationships/notesSlide" Target="../notesSlides/notesSlide7.xml"/><Relationship Id="rId31" Type="http://schemas.openxmlformats.org/officeDocument/2006/relationships/slideLayout" Target="../slideLayouts/slideLayout9.xml"/><Relationship Id="rId30" Type="http://schemas.openxmlformats.org/officeDocument/2006/relationships/tags" Target="../tags/tag24.xml"/><Relationship Id="rId3" Type="http://schemas.openxmlformats.org/officeDocument/2006/relationships/tags" Target="../tags/tag2.xml"/><Relationship Id="rId29" Type="http://schemas.openxmlformats.org/officeDocument/2006/relationships/tags" Target="../tags/tag23.xml"/><Relationship Id="rId28" Type="http://schemas.openxmlformats.org/officeDocument/2006/relationships/image" Target="../media/image18.svg"/><Relationship Id="rId27" Type="http://schemas.openxmlformats.org/officeDocument/2006/relationships/tags" Target="../tags/tag22.xml"/><Relationship Id="rId26" Type="http://schemas.openxmlformats.org/officeDocument/2006/relationships/tags" Target="../tags/tag21.xml"/><Relationship Id="rId25" Type="http://schemas.openxmlformats.org/officeDocument/2006/relationships/tags" Target="../tags/tag20.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tags" Target="../tags/tag17.xml"/><Relationship Id="rId21" Type="http://schemas.openxmlformats.org/officeDocument/2006/relationships/image" Target="../media/image17.svg"/><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image" Target="../media/image16.svg"/><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963400" y="0"/>
            <a:ext cx="5486400" cy="8229600"/>
          </a:xfrm>
          <a:prstGeom prst="rect">
            <a:avLst/>
          </a:prstGeom>
        </p:spPr>
      </p:pic>
      <p:sp>
        <p:nvSpPr>
          <p:cNvPr id="3" name="Text 0"/>
          <p:cNvSpPr/>
          <p:nvPr/>
        </p:nvSpPr>
        <p:spPr>
          <a:xfrm>
            <a:off x="95250" y="583565"/>
            <a:ext cx="4847590" cy="2876550"/>
          </a:xfrm>
          <a:prstGeom prst="rect">
            <a:avLst/>
          </a:prstGeom>
          <a:noFill/>
        </p:spPr>
        <p:txBody>
          <a:bodyPr wrap="none" lIns="0" tIns="0" rIns="0" bIns="0" rtlCol="0" anchor="t"/>
          <a:lstStyle/>
          <a:p>
            <a:pPr marL="0" indent="0" algn="l">
              <a:lnSpc>
                <a:spcPts val="3300"/>
              </a:lnSpc>
              <a:buNone/>
            </a:pPr>
            <a:endParaRPr lang="en-US" sz="3600" dirty="0"/>
          </a:p>
        </p:txBody>
      </p:sp>
      <p:sp>
        <p:nvSpPr>
          <p:cNvPr id="5" name="Text Box 4"/>
          <p:cNvSpPr txBox="1"/>
          <p:nvPr/>
        </p:nvSpPr>
        <p:spPr>
          <a:xfrm>
            <a:off x="241935" y="7035800"/>
            <a:ext cx="8902065" cy="456565"/>
          </a:xfrm>
          <a:prstGeom prst="rect">
            <a:avLst/>
          </a:prstGeom>
          <a:noFill/>
        </p:spPr>
        <p:txBody>
          <a:bodyPr wrap="square" rtlCol="0">
            <a:spAutoFit/>
          </a:bodyPr>
          <a:p>
            <a:pPr marL="0" indent="0" algn="l">
              <a:lnSpc>
                <a:spcPts val="2850"/>
              </a:lnSpc>
              <a:buNone/>
            </a:pPr>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Federal Urdu University of Arts, Science &amp; Technology, Islamabad</a:t>
            </a:r>
            <a:endParaRPr lang="en-US" altLang="en-US" sz="2400" b="1">
              <a:latin typeface="Times New Roman" panose="02020603050405020304" charset="0"/>
              <a:cs typeface="Times New Roman" panose="02020603050405020304" charset="0"/>
            </a:endParaRPr>
          </a:p>
        </p:txBody>
      </p:sp>
      <p:sp>
        <p:nvSpPr>
          <p:cNvPr id="6" name="Text Box 5"/>
          <p:cNvSpPr txBox="1"/>
          <p:nvPr/>
        </p:nvSpPr>
        <p:spPr>
          <a:xfrm>
            <a:off x="95250" y="1113155"/>
            <a:ext cx="7644765" cy="2692400"/>
          </a:xfrm>
          <a:prstGeom prst="rect">
            <a:avLst/>
          </a:prstGeom>
          <a:noFill/>
        </p:spPr>
        <p:txBody>
          <a:bodyPr wrap="square" rtlCol="0">
            <a:noAutofit/>
          </a:bodyPr>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ANALYSIS OF STUDENTS</a:t>
            </a: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PERFORMANCE USING</a:t>
            </a: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 PYTHON</a:t>
            </a:r>
            <a:endParaRPr lang="en-US" sz="4400" b="1" dirty="0">
              <a:latin typeface="Times New Roman" panose="02020603050405020304" charset="0"/>
              <a:cs typeface="Times New Roman" panose="02020603050405020304" charset="0"/>
            </a:endParaRPr>
          </a:p>
          <a:p>
            <a:pPr marL="0" indent="0" algn="l">
              <a:lnSpc>
                <a:spcPts val="3300"/>
              </a:lnSpc>
              <a:buNone/>
            </a:pPr>
            <a:endParaRPr lang="en-US" sz="4400" b="1" dirty="0">
              <a:latin typeface="Times New Roman" panose="02020603050405020304" charset="0"/>
              <a:cs typeface="Times New Roman" panose="02020603050405020304" charset="0"/>
            </a:endParaRPr>
          </a:p>
        </p:txBody>
      </p:sp>
      <p:sp>
        <p:nvSpPr>
          <p:cNvPr id="7" name="Text Box 6"/>
          <p:cNvSpPr txBox="1"/>
          <p:nvPr/>
        </p:nvSpPr>
        <p:spPr>
          <a:xfrm>
            <a:off x="7315200" y="927735"/>
            <a:ext cx="4419600" cy="4620895"/>
          </a:xfrm>
          <a:prstGeom prst="rect">
            <a:avLst/>
          </a:prstGeom>
          <a:noFill/>
        </p:spPr>
        <p:txBody>
          <a:bodyPr wrap="square" rtlCol="0">
            <a:noAutofit/>
          </a:bodyPr>
          <a:p>
            <a:pPr marL="0" indent="0" algn="l">
              <a:lnSpc>
                <a:spcPts val="3300"/>
              </a:lnSpc>
              <a:buNone/>
            </a:pPr>
            <a:endParaRPr lang="en-US"/>
          </a:p>
        </p:txBody>
      </p:sp>
      <p:pic>
        <p:nvPicPr>
          <p:cNvPr id="10" name="Picture 9" descr="Picture1"/>
          <p:cNvPicPr>
            <a:picLocks noChangeAspect="1"/>
          </p:cNvPicPr>
          <p:nvPr/>
        </p:nvPicPr>
        <p:blipFill>
          <a:blip r:embed="rId2"/>
          <a:stretch>
            <a:fillRect/>
          </a:stretch>
        </p:blipFill>
        <p:spPr>
          <a:xfrm>
            <a:off x="7167245" y="774065"/>
            <a:ext cx="4415155" cy="4928870"/>
          </a:xfrm>
          <a:prstGeom prst="rect">
            <a:avLst/>
          </a:prstGeom>
        </p:spPr>
      </p:pic>
      <p:sp>
        <p:nvSpPr>
          <p:cNvPr id="8" name="Text Box 7"/>
          <p:cNvSpPr txBox="1"/>
          <p:nvPr/>
        </p:nvSpPr>
        <p:spPr>
          <a:xfrm>
            <a:off x="381000" y="4229100"/>
            <a:ext cx="4876800" cy="829945"/>
          </a:xfrm>
          <a:prstGeom prst="rect">
            <a:avLst/>
          </a:prstGeom>
          <a:noFill/>
        </p:spPr>
        <p:txBody>
          <a:bodyPr wrap="square" rtlCol="0">
            <a:spAutoFit/>
          </a:bodyPr>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Presented By: Saba Zaman</a:t>
            </a:r>
            <a:endParaRPr lang="en-US" sz="2400" b="1" dirty="0">
              <a:latin typeface="Times New Roman" panose="02020603050405020304" charset="0"/>
              <a:cs typeface="Times New Roman" panose="02020603050405020304" charset="0"/>
            </a:endParaRPr>
          </a:p>
          <a:p>
            <a:endParaRPr lang="en-US" sz="2400" b="1">
              <a:latin typeface="Times New Roman" panose="02020603050405020304" charset="0"/>
              <a:cs typeface="Times New Roman" panose="02020603050405020304" charset="0"/>
            </a:endParaRPr>
          </a:p>
        </p:txBody>
      </p:sp>
      <p:sp>
        <p:nvSpPr>
          <p:cNvPr id="9" name="Text Box 8"/>
          <p:cNvSpPr txBox="1"/>
          <p:nvPr/>
        </p:nvSpPr>
        <p:spPr>
          <a:xfrm>
            <a:off x="241935" y="5297805"/>
            <a:ext cx="4876800" cy="460375"/>
          </a:xfrm>
          <a:prstGeom prst="rect">
            <a:avLst/>
          </a:prstGeom>
          <a:noFill/>
        </p:spPr>
        <p:txBody>
          <a:bodyPr wrap="square" rtlCol="0">
            <a:spAutoFit/>
          </a:bodyPr>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Supervisor: Ma’am Hina Javed</a:t>
            </a:r>
            <a:endParaRPr lang="en-US" sz="2400" b="1">
              <a:latin typeface="Times New Roman" panose="02020603050405020304" charset="0"/>
              <a:cs typeface="Times New Roman" panose="02020603050405020304" charset="0"/>
            </a:endParaRPr>
          </a:p>
        </p:txBody>
      </p:sp>
      <p:sp>
        <p:nvSpPr>
          <p:cNvPr id="11" name="Text Box 10"/>
          <p:cNvSpPr txBox="1"/>
          <p:nvPr/>
        </p:nvSpPr>
        <p:spPr>
          <a:xfrm>
            <a:off x="381000" y="6125845"/>
            <a:ext cx="6388100" cy="829945"/>
          </a:xfrm>
          <a:prstGeom prst="rect">
            <a:avLst/>
          </a:prstGeom>
          <a:noFill/>
        </p:spPr>
        <p:txBody>
          <a:bodyPr wrap="square" rtlCol="0">
            <a:spAutoFit/>
          </a:bodyPr>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BSCS 7th A | Department of Computer Science</a:t>
            </a:r>
            <a:endParaRPr lang="en-US" sz="2400" b="1" dirty="0">
              <a:latin typeface="Times New Roman" panose="02020603050405020304" charset="0"/>
              <a:cs typeface="Times New Roman" panose="02020603050405020304" charset="0"/>
            </a:endParaRPr>
          </a:p>
          <a:p>
            <a:endParaRPr lang="en-US" sz="24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793790" y="1523524"/>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ABSTRACT</a:t>
            </a:r>
            <a:endParaRPr lang="en-US" sz="4450" dirty="0"/>
          </a:p>
        </p:txBody>
      </p:sp>
      <p:sp>
        <p:nvSpPr>
          <p:cNvPr id="3" name="Shape 1"/>
          <p:cNvSpPr/>
          <p:nvPr/>
        </p:nvSpPr>
        <p:spPr>
          <a:xfrm>
            <a:off x="793790" y="2685931"/>
            <a:ext cx="4196358" cy="4020145"/>
          </a:xfrm>
          <a:prstGeom prst="roundRect">
            <a:avLst>
              <a:gd name="adj" fmla="val 846"/>
            </a:avLst>
          </a:prstGeom>
          <a:solidFill>
            <a:srgbClr val="D8D9D2"/>
          </a:solidFill>
        </p:spPr>
      </p:sp>
      <p:sp>
        <p:nvSpPr>
          <p:cNvPr id="4" name="Shape 2"/>
          <p:cNvSpPr/>
          <p:nvPr/>
        </p:nvSpPr>
        <p:spPr>
          <a:xfrm>
            <a:off x="1020604" y="2912745"/>
            <a:ext cx="680442" cy="680442"/>
          </a:xfrm>
          <a:prstGeom prst="roundRect">
            <a:avLst>
              <a:gd name="adj" fmla="val 13436980"/>
            </a:avLst>
          </a:prstGeom>
          <a:solidFill>
            <a:srgbClr val="C8CAC1"/>
          </a:solidFill>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3099792"/>
            <a:ext cx="306110" cy="306110"/>
          </a:xfrm>
          <a:prstGeom prst="rect">
            <a:avLst/>
          </a:prstGeom>
        </p:spPr>
      </p:pic>
      <p:sp>
        <p:nvSpPr>
          <p:cNvPr id="6" name="Text 3"/>
          <p:cNvSpPr/>
          <p:nvPr/>
        </p:nvSpPr>
        <p:spPr>
          <a:xfrm>
            <a:off x="1020604" y="3820001"/>
            <a:ext cx="3742730" cy="708660"/>
          </a:xfrm>
          <a:prstGeom prst="rect">
            <a:avLst/>
          </a:prstGeom>
          <a:noFill/>
        </p:spPr>
        <p:txBody>
          <a:bodyPr wrap="square" lIns="0" tIns="0" rIns="0" bIns="0" rtlCol="0" anchor="t"/>
          <a:lstStyle/>
          <a:p>
            <a:pPr marL="0" indent="0" algn="l">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PERFORMANCE INSIGHTS</a:t>
            </a:r>
            <a:endParaRPr lang="en-US" sz="2200" dirty="0"/>
          </a:p>
        </p:txBody>
      </p:sp>
      <p:sp>
        <p:nvSpPr>
          <p:cNvPr id="7" name="Text 4"/>
          <p:cNvSpPr/>
          <p:nvPr/>
        </p:nvSpPr>
        <p:spPr>
          <a:xfrm>
            <a:off x="1020604" y="4664750"/>
            <a:ext cx="3742730" cy="1451610"/>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Roboto Condensed" panose="02000000000000000000" pitchFamily="34" charset="0"/>
                <a:ea typeface="Roboto Condensed" panose="02000000000000000000" pitchFamily="34" charset="-122"/>
                <a:cs typeface="Roboto Condensed" panose="02000000000000000000" pitchFamily="34" charset="-120"/>
              </a:rPr>
              <a:t>This project rigorously analyses student scores across core subjects: Mathematics, English Language, and Science.</a:t>
            </a:r>
            <a:endParaRPr lang="en-US" sz="1750" dirty="0"/>
          </a:p>
        </p:txBody>
      </p:sp>
      <p:sp>
        <p:nvSpPr>
          <p:cNvPr id="8" name="Shape 5"/>
          <p:cNvSpPr/>
          <p:nvPr/>
        </p:nvSpPr>
        <p:spPr>
          <a:xfrm>
            <a:off x="5216962" y="2685931"/>
            <a:ext cx="4196358" cy="4020145"/>
          </a:xfrm>
          <a:prstGeom prst="roundRect">
            <a:avLst>
              <a:gd name="adj" fmla="val 846"/>
            </a:avLst>
          </a:prstGeom>
          <a:solidFill>
            <a:srgbClr val="D8D9D2"/>
          </a:solidFill>
        </p:spPr>
      </p:sp>
      <p:sp>
        <p:nvSpPr>
          <p:cNvPr id="9" name="Shape 6"/>
          <p:cNvSpPr/>
          <p:nvPr/>
        </p:nvSpPr>
        <p:spPr>
          <a:xfrm>
            <a:off x="5443776" y="2912745"/>
            <a:ext cx="680442" cy="680442"/>
          </a:xfrm>
          <a:prstGeom prst="roundRect">
            <a:avLst>
              <a:gd name="adj" fmla="val 13436980"/>
            </a:avLst>
          </a:prstGeom>
          <a:solidFill>
            <a:srgbClr val="C8CAC1"/>
          </a:solidFill>
        </p:spPr>
      </p:sp>
      <p:pic>
        <p:nvPicPr>
          <p:cNvPr id="10"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5630942" y="3099792"/>
            <a:ext cx="306110" cy="306110"/>
          </a:xfrm>
          <a:prstGeom prst="rect">
            <a:avLst/>
          </a:prstGeom>
        </p:spPr>
      </p:pic>
      <p:sp>
        <p:nvSpPr>
          <p:cNvPr id="11" name="Text 7"/>
          <p:cNvSpPr/>
          <p:nvPr/>
        </p:nvSpPr>
        <p:spPr>
          <a:xfrm>
            <a:off x="5443776" y="3820001"/>
            <a:ext cx="3742730" cy="708660"/>
          </a:xfrm>
          <a:prstGeom prst="rect">
            <a:avLst/>
          </a:prstGeom>
          <a:noFill/>
        </p:spPr>
        <p:txBody>
          <a:bodyPr wrap="square" lIns="0" tIns="0" rIns="0" bIns="0" rtlCol="0" anchor="t"/>
          <a:lstStyle/>
          <a:p>
            <a:pPr marL="0" indent="0" algn="l">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PYTHON-POWERED ANALYSIS</a:t>
            </a:r>
            <a:endParaRPr lang="en-US" sz="2200" dirty="0"/>
          </a:p>
        </p:txBody>
      </p:sp>
      <p:sp>
        <p:nvSpPr>
          <p:cNvPr id="12" name="Text 8"/>
          <p:cNvSpPr/>
          <p:nvPr/>
        </p:nvSpPr>
        <p:spPr>
          <a:xfrm>
            <a:off x="5443776" y="4664750"/>
            <a:ext cx="3742730" cy="1814513"/>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Roboto Condensed" panose="02000000000000000000" pitchFamily="34" charset="0"/>
                <a:ea typeface="Roboto Condensed" panose="02000000000000000000" pitchFamily="34" charset="-122"/>
                <a:cs typeface="Roboto Condensed" panose="02000000000000000000" pitchFamily="34" charset="-120"/>
              </a:rPr>
              <a:t>We leverage powerful Python tools, including Pandas and Matplotlib, to meticulously explore hidden patterns and compare performance trends between subjects.</a:t>
            </a:r>
            <a:endParaRPr lang="en-US" sz="1750" dirty="0"/>
          </a:p>
        </p:txBody>
      </p:sp>
      <p:sp>
        <p:nvSpPr>
          <p:cNvPr id="13" name="Shape 9"/>
          <p:cNvSpPr/>
          <p:nvPr/>
        </p:nvSpPr>
        <p:spPr>
          <a:xfrm>
            <a:off x="9640133" y="2685931"/>
            <a:ext cx="4196358" cy="4020145"/>
          </a:xfrm>
          <a:prstGeom prst="roundRect">
            <a:avLst>
              <a:gd name="adj" fmla="val 846"/>
            </a:avLst>
          </a:prstGeom>
          <a:solidFill>
            <a:srgbClr val="D8D9D2"/>
          </a:solidFill>
        </p:spPr>
      </p:sp>
      <p:sp>
        <p:nvSpPr>
          <p:cNvPr id="14" name="Shape 10"/>
          <p:cNvSpPr/>
          <p:nvPr/>
        </p:nvSpPr>
        <p:spPr>
          <a:xfrm>
            <a:off x="9866948" y="2912745"/>
            <a:ext cx="680442" cy="680442"/>
          </a:xfrm>
          <a:prstGeom prst="roundRect">
            <a:avLst>
              <a:gd name="adj" fmla="val 13436980"/>
            </a:avLst>
          </a:prstGeom>
          <a:solidFill>
            <a:srgbClr val="C8CAC1"/>
          </a:solidFill>
        </p:spPr>
      </p:sp>
      <p:pic>
        <p:nvPicPr>
          <p:cNvPr id="15"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10054114" y="3099792"/>
            <a:ext cx="306110" cy="306110"/>
          </a:xfrm>
          <a:prstGeom prst="rect">
            <a:avLst/>
          </a:prstGeom>
        </p:spPr>
      </p:pic>
      <p:sp>
        <p:nvSpPr>
          <p:cNvPr id="16" name="Text 11"/>
          <p:cNvSpPr/>
          <p:nvPr/>
        </p:nvSpPr>
        <p:spPr>
          <a:xfrm>
            <a:off x="9866948" y="3820001"/>
            <a:ext cx="3742730" cy="708660"/>
          </a:xfrm>
          <a:prstGeom prst="rect">
            <a:avLst/>
          </a:prstGeom>
          <a:noFill/>
        </p:spPr>
        <p:txBody>
          <a:bodyPr wrap="square" lIns="0" tIns="0" rIns="0" bIns="0" rtlCol="0" anchor="t"/>
          <a:lstStyle/>
          <a:p>
            <a:pPr marL="0" indent="0" algn="l">
              <a:lnSpc>
                <a:spcPts val="2750"/>
              </a:lnSpc>
              <a:buNone/>
            </a:pPr>
            <a:r>
              <a:rPr lang="en-US" sz="2200" b="1" dirty="0">
                <a:solidFill>
                  <a:srgbClr val="000000"/>
                </a:solidFill>
                <a:latin typeface="Hubot Sans Bold" pitchFamily="34" charset="0"/>
                <a:ea typeface="Hubot Sans Bold" pitchFamily="34" charset="-122"/>
                <a:cs typeface="Hubot Sans Bold" pitchFamily="34" charset="-120"/>
              </a:rPr>
              <a:t>STRATEGIC IMPROVEMENT</a:t>
            </a:r>
            <a:endParaRPr lang="en-US" sz="2200" dirty="0"/>
          </a:p>
        </p:txBody>
      </p:sp>
      <p:sp>
        <p:nvSpPr>
          <p:cNvPr id="17" name="Text 12"/>
          <p:cNvSpPr/>
          <p:nvPr/>
        </p:nvSpPr>
        <p:spPr>
          <a:xfrm>
            <a:off x="9866948" y="4664750"/>
            <a:ext cx="3742730" cy="1814513"/>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Roboto Condensed" panose="02000000000000000000" pitchFamily="34" charset="0"/>
                <a:ea typeface="Roboto Condensed" panose="02000000000000000000" pitchFamily="34" charset="-122"/>
                <a:cs typeface="Roboto Condensed" panose="02000000000000000000" pitchFamily="34" charset="-120"/>
              </a:rPr>
              <a:t>The primary objective is to pinpoint student strengths and identify specific areas of weakness, providing actionable insights to enhance the learning process and educational outcomes.</a:t>
            </a:r>
            <a:endParaRPr lang="en-US" sz="1750" dirty="0"/>
          </a:p>
        </p:txBody>
      </p:sp>
      <p:sp>
        <p:nvSpPr>
          <p:cNvPr id="20" name="Text Box 19"/>
          <p:cNvSpPr txBox="1"/>
          <p:nvPr/>
        </p:nvSpPr>
        <p:spPr>
          <a:xfrm>
            <a:off x="12077700" y="7563485"/>
            <a:ext cx="2552700" cy="558165"/>
          </a:xfrm>
          <a:prstGeom prst="rect">
            <a:avLst/>
          </a:prstGeom>
          <a:solidFill>
            <a:schemeClr val="bg2"/>
          </a:solidFill>
        </p:spPr>
        <p:txBody>
          <a:bodyPr wrap="square" rtlCol="0">
            <a:noAutofit/>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9257" y="565071"/>
            <a:ext cx="13191887" cy="1284208"/>
          </a:xfrm>
          <a:prstGeom prst="rect">
            <a:avLst/>
          </a:prstGeom>
          <a:noFill/>
        </p:spPr>
        <p:txBody>
          <a:bodyPr wrap="square" lIns="0" tIns="0" rIns="0" bIns="0" rtlCol="0" anchor="t"/>
          <a:lstStyle/>
          <a:p>
            <a:pPr marL="0" indent="0" algn="l">
              <a:lnSpc>
                <a:spcPts val="5050"/>
              </a:lnSpc>
              <a:buNone/>
            </a:pPr>
            <a:r>
              <a:rPr lang="en-US" sz="4000" b="1" dirty="0">
                <a:solidFill>
                  <a:srgbClr val="0C0D0F"/>
                </a:solidFill>
                <a:latin typeface="Hubot Sans Bold" pitchFamily="34" charset="0"/>
                <a:ea typeface="Hubot Sans Bold" pitchFamily="34" charset="-122"/>
                <a:cs typeface="Hubot Sans Bold" pitchFamily="34" charset="-120"/>
              </a:rPr>
              <a:t>INTRODUCTION: ELEVATING EDUCATIONAL QUALITY THROUGH DATA</a:t>
            </a:r>
            <a:endParaRPr lang="en-US" sz="4000" dirty="0"/>
          </a:p>
        </p:txBody>
      </p:sp>
      <p:sp>
        <p:nvSpPr>
          <p:cNvPr id="3" name="Text 1"/>
          <p:cNvSpPr/>
          <p:nvPr/>
        </p:nvSpPr>
        <p:spPr>
          <a:xfrm>
            <a:off x="719257" y="2342436"/>
            <a:ext cx="7029926" cy="1314926"/>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Understanding student performance is fundamental to improving the quality of education. By systematically analysing academic results, we can pinpoint areas where students excel and, more importantly, identify subjects or topics that require additional support and intervention.</a:t>
            </a:r>
            <a:endParaRPr lang="en-US" sz="1600" dirty="0"/>
          </a:p>
        </p:txBody>
      </p:sp>
      <p:sp>
        <p:nvSpPr>
          <p:cNvPr id="4" name="Text 2"/>
          <p:cNvSpPr/>
          <p:nvPr/>
        </p:nvSpPr>
        <p:spPr>
          <a:xfrm>
            <a:off x="719257" y="3842266"/>
            <a:ext cx="7029926" cy="1314926"/>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This report specifically focuses on student achievement in three foundational subjects: Mathematics, English Language, and Science. Each subject presents unique challenges and opportunities for learning, and a detailed examination of performance can inform targeted teaching strategies.</a:t>
            </a:r>
            <a:endParaRPr lang="en-US" sz="1600" dirty="0"/>
          </a:p>
        </p:txBody>
      </p:sp>
      <p:sp>
        <p:nvSpPr>
          <p:cNvPr id="5" name="Text 3"/>
          <p:cNvSpPr/>
          <p:nvPr/>
        </p:nvSpPr>
        <p:spPr>
          <a:xfrm>
            <a:off x="719257" y="5342096"/>
            <a:ext cx="7029926" cy="986195"/>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The use of Python programming proves invaluable in this endeavour, offering robust capabilities for data manipulation, statistical analysis, and compelling visualisations. This approach makes complex data analysis more accessible and impactful.</a:t>
            </a:r>
            <a:endParaRPr lang="en-US" sz="1600" dirty="0"/>
          </a:p>
        </p:txBody>
      </p:sp>
      <p:pic>
        <p:nvPicPr>
          <p:cNvPr id="6" name="Image 0" descr="preencoded.png"/>
          <p:cNvPicPr>
            <a:picLocks noChangeAspect="1"/>
          </p:cNvPicPr>
          <p:nvPr/>
        </p:nvPicPr>
        <p:blipFill>
          <a:blip r:embed="rId1"/>
          <a:stretch>
            <a:fillRect/>
          </a:stretch>
        </p:blipFill>
        <p:spPr>
          <a:xfrm>
            <a:off x="8258175" y="2388870"/>
            <a:ext cx="5660390" cy="5076190"/>
          </a:xfrm>
          <a:prstGeom prst="rect">
            <a:avLst/>
          </a:prstGeom>
        </p:spPr>
      </p:pic>
      <p:sp>
        <p:nvSpPr>
          <p:cNvPr id="20" name="Text Box 19"/>
          <p:cNvSpPr txBox="1"/>
          <p:nvPr/>
        </p:nvSpPr>
        <p:spPr>
          <a:xfrm>
            <a:off x="12077700" y="7550785"/>
            <a:ext cx="2552700" cy="558165"/>
          </a:xfrm>
          <a:prstGeom prst="rect">
            <a:avLst/>
          </a:prstGeom>
          <a:solidFill>
            <a:schemeClr val="bg2"/>
          </a:solidFill>
        </p:spPr>
        <p:txBody>
          <a:bodyPr wrap="square" rtlCol="0">
            <a:no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7315200" y="0"/>
            <a:ext cx="7315200" cy="8229600"/>
          </a:xfrm>
          <a:prstGeom prst="rect">
            <a:avLst/>
          </a:prstGeom>
        </p:spPr>
      </p:pic>
      <p:sp>
        <p:nvSpPr>
          <p:cNvPr id="3" name="Text 0"/>
          <p:cNvSpPr/>
          <p:nvPr/>
        </p:nvSpPr>
        <p:spPr>
          <a:xfrm>
            <a:off x="583049" y="743307"/>
            <a:ext cx="6149102" cy="1041083"/>
          </a:xfrm>
          <a:prstGeom prst="rect">
            <a:avLst/>
          </a:prstGeom>
          <a:noFill/>
        </p:spPr>
        <p:txBody>
          <a:bodyPr wrap="square" lIns="0" tIns="0" rIns="0" bIns="0" rtlCol="0" anchor="t"/>
          <a:lstStyle/>
          <a:p>
            <a:pPr marL="0" indent="0" algn="l">
              <a:lnSpc>
                <a:spcPts val="4050"/>
              </a:lnSpc>
              <a:buNone/>
            </a:pPr>
            <a:r>
              <a:rPr lang="en-US" sz="3250" b="1" dirty="0">
                <a:solidFill>
                  <a:srgbClr val="0C0D0F"/>
                </a:solidFill>
                <a:latin typeface="Hubot Sans Bold" pitchFamily="34" charset="0"/>
                <a:ea typeface="Hubot Sans Bold" pitchFamily="34" charset="-122"/>
                <a:cs typeface="Hubot Sans Bold" pitchFamily="34" charset="-120"/>
              </a:rPr>
              <a:t>METHODOLOGY: A PYTHON-DRIVEN APPROACH</a:t>
            </a:r>
            <a:endParaRPr lang="en-US" sz="3250" dirty="0"/>
          </a:p>
        </p:txBody>
      </p:sp>
      <p:pic>
        <p:nvPicPr>
          <p:cNvPr id="4" name="Image 1" descr="preencoded.png"/>
          <p:cNvPicPr>
            <a:picLocks noChangeAspect="1"/>
          </p:cNvPicPr>
          <p:nvPr/>
        </p:nvPicPr>
        <p:blipFill>
          <a:blip r:embed="rId2"/>
          <a:stretch>
            <a:fillRect/>
          </a:stretch>
        </p:blipFill>
        <p:spPr>
          <a:xfrm>
            <a:off x="583049" y="2034183"/>
            <a:ext cx="499705" cy="1143000"/>
          </a:xfrm>
          <a:prstGeom prst="rect">
            <a:avLst/>
          </a:prstGeom>
        </p:spPr>
      </p:pic>
      <p:sp>
        <p:nvSpPr>
          <p:cNvPr id="5" name="Text 1"/>
          <p:cNvSpPr/>
          <p:nvPr/>
        </p:nvSpPr>
        <p:spPr>
          <a:xfrm>
            <a:off x="1249323" y="2200751"/>
            <a:ext cx="2272546" cy="260271"/>
          </a:xfrm>
          <a:prstGeom prst="rect">
            <a:avLst/>
          </a:prstGeom>
          <a:noFill/>
        </p:spPr>
        <p:txBody>
          <a:bodyPr wrap="none" lIns="0" tIns="0" rIns="0" bIns="0" rtlCol="0" anchor="t"/>
          <a:lstStyle/>
          <a:p>
            <a:pPr marL="0" indent="0" algn="l">
              <a:lnSpc>
                <a:spcPts val="2000"/>
              </a:lnSpc>
              <a:buNone/>
            </a:pPr>
            <a:r>
              <a:rPr lang="en-US" sz="1600" b="1" dirty="0">
                <a:solidFill>
                  <a:srgbClr val="55575A"/>
                </a:solidFill>
                <a:latin typeface="Hubot Sans Bold" pitchFamily="34" charset="0"/>
                <a:ea typeface="Hubot Sans Bold" pitchFamily="34" charset="-122"/>
                <a:cs typeface="Hubot Sans Bold" pitchFamily="34" charset="-120"/>
              </a:rPr>
              <a:t>DATA ACQUISITION</a:t>
            </a:r>
            <a:endParaRPr lang="en-US" sz="1600" dirty="0"/>
          </a:p>
        </p:txBody>
      </p:sp>
      <p:sp>
        <p:nvSpPr>
          <p:cNvPr id="6" name="Text 2"/>
          <p:cNvSpPr/>
          <p:nvPr/>
        </p:nvSpPr>
        <p:spPr>
          <a:xfrm>
            <a:off x="1249323" y="2560915"/>
            <a:ext cx="5482828" cy="532924"/>
          </a:xfrm>
          <a:prstGeom prst="rect">
            <a:avLst/>
          </a:prstGeom>
          <a:noFill/>
        </p:spPr>
        <p:txBody>
          <a:bodyPr wrap="square" lIns="0" tIns="0" rIns="0" bIns="0" rtlCol="0" anchor="t"/>
          <a:lstStyle/>
          <a:p>
            <a:pPr marL="0" indent="0" algn="l">
              <a:lnSpc>
                <a:spcPts val="2050"/>
              </a:lnSpc>
              <a:buNone/>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Student scores in Mathematics, English Language, and Science were meticulously collected, forming the raw dataset for our analysis.</a:t>
            </a:r>
            <a:endParaRPr lang="en-US" sz="1300" dirty="0"/>
          </a:p>
        </p:txBody>
      </p:sp>
      <p:pic>
        <p:nvPicPr>
          <p:cNvPr id="7" name="Image 2" descr="preencoded.png"/>
          <p:cNvPicPr>
            <a:picLocks noChangeAspect="1"/>
          </p:cNvPicPr>
          <p:nvPr/>
        </p:nvPicPr>
        <p:blipFill>
          <a:blip r:embed="rId3"/>
          <a:stretch>
            <a:fillRect/>
          </a:stretch>
        </p:blipFill>
        <p:spPr>
          <a:xfrm>
            <a:off x="832842" y="3426976"/>
            <a:ext cx="499705" cy="1143000"/>
          </a:xfrm>
          <a:prstGeom prst="rect">
            <a:avLst/>
          </a:prstGeom>
        </p:spPr>
      </p:pic>
      <p:sp>
        <p:nvSpPr>
          <p:cNvPr id="8" name="Text 3"/>
          <p:cNvSpPr/>
          <p:nvPr/>
        </p:nvSpPr>
        <p:spPr>
          <a:xfrm>
            <a:off x="1499116" y="3593544"/>
            <a:ext cx="3137059" cy="260271"/>
          </a:xfrm>
          <a:prstGeom prst="rect">
            <a:avLst/>
          </a:prstGeom>
          <a:noFill/>
        </p:spPr>
        <p:txBody>
          <a:bodyPr wrap="none" lIns="0" tIns="0" rIns="0" bIns="0" rtlCol="0" anchor="t"/>
          <a:lstStyle/>
          <a:p>
            <a:pPr marL="0" indent="0" algn="l">
              <a:lnSpc>
                <a:spcPts val="2000"/>
              </a:lnSpc>
              <a:buNone/>
            </a:pPr>
            <a:r>
              <a:rPr lang="en-US" sz="1600" b="1" dirty="0">
                <a:solidFill>
                  <a:srgbClr val="55575A"/>
                </a:solidFill>
                <a:latin typeface="Hubot Sans Bold" pitchFamily="34" charset="0"/>
                <a:ea typeface="Hubot Sans Bold" pitchFamily="34" charset="-122"/>
                <a:cs typeface="Hubot Sans Bold" pitchFamily="34" charset="-120"/>
              </a:rPr>
              <a:t>TOOLING: PYTHON'S POWER</a:t>
            </a:r>
            <a:endParaRPr lang="en-US" sz="1600" dirty="0"/>
          </a:p>
        </p:txBody>
      </p:sp>
      <p:sp>
        <p:nvSpPr>
          <p:cNvPr id="9" name="Text 4"/>
          <p:cNvSpPr/>
          <p:nvPr/>
        </p:nvSpPr>
        <p:spPr>
          <a:xfrm>
            <a:off x="1499116" y="3953708"/>
            <a:ext cx="5233035" cy="266462"/>
          </a:xfrm>
          <a:prstGeom prst="rect">
            <a:avLst/>
          </a:prstGeom>
          <a:noFill/>
        </p:spPr>
        <p:txBody>
          <a:bodyPr wrap="none" lIns="0" tIns="0" rIns="0" bIns="0" rtlCol="0" anchor="t"/>
          <a:lstStyle/>
          <a:p>
            <a:pPr marL="0" indent="0" algn="l">
              <a:lnSpc>
                <a:spcPts val="2050"/>
              </a:lnSpc>
              <a:buNone/>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We utilised key Python libraries:</a:t>
            </a:r>
            <a:endParaRPr lang="en-US" sz="1300" dirty="0"/>
          </a:p>
        </p:txBody>
      </p:sp>
      <p:sp>
        <p:nvSpPr>
          <p:cNvPr id="10" name="Text 5"/>
          <p:cNvSpPr/>
          <p:nvPr/>
        </p:nvSpPr>
        <p:spPr>
          <a:xfrm>
            <a:off x="1499116" y="4320064"/>
            <a:ext cx="5233035" cy="266462"/>
          </a:xfrm>
          <a:prstGeom prst="rect">
            <a:avLst/>
          </a:prstGeom>
          <a:noFill/>
        </p:spPr>
        <p:txBody>
          <a:bodyPr wrap="none" lIns="0" tIns="0" rIns="0" bIns="0" rtlCol="0" anchor="t"/>
          <a:lstStyle/>
          <a:p>
            <a:pPr marL="0" indent="0" algn="l">
              <a:lnSpc>
                <a:spcPts val="2050"/>
              </a:lnSpc>
              <a:buSzPct val="100000"/>
              <a:buNone/>
            </a:pPr>
            <a:r>
              <a:rPr lang="en-US" sz="13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Pandas:</a:t>
            </a: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Essential for efficient data handling, cleaning, and structuring.</a:t>
            </a:r>
            <a:endParaRPr lang="en-US" sz="1300" dirty="0"/>
          </a:p>
        </p:txBody>
      </p:sp>
      <p:sp>
        <p:nvSpPr>
          <p:cNvPr id="11" name="Text 6"/>
          <p:cNvSpPr/>
          <p:nvPr/>
        </p:nvSpPr>
        <p:spPr>
          <a:xfrm>
            <a:off x="1499116" y="4644747"/>
            <a:ext cx="5233035" cy="532924"/>
          </a:xfrm>
          <a:prstGeom prst="rect">
            <a:avLst/>
          </a:prstGeom>
          <a:noFill/>
        </p:spPr>
        <p:txBody>
          <a:bodyPr wrap="square" lIns="0" tIns="0" rIns="0" bIns="0" rtlCol="0" anchor="t"/>
          <a:lstStyle/>
          <a:p>
            <a:pPr marL="0" indent="0" algn="l">
              <a:lnSpc>
                <a:spcPts val="2050"/>
              </a:lnSpc>
              <a:buSzPct val="100000"/>
              <a:buNone/>
            </a:pPr>
            <a:r>
              <a:rPr lang="en-US" sz="13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Matplotlib:</a:t>
            </a: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Employed for generating insightful graphs and charts to visualise performance trends.</a:t>
            </a:r>
            <a:endParaRPr lang="en-US" sz="1300" dirty="0"/>
          </a:p>
        </p:txBody>
      </p:sp>
      <p:pic>
        <p:nvPicPr>
          <p:cNvPr id="12" name="Image 3" descr="preencoded.png"/>
          <p:cNvPicPr>
            <a:picLocks noChangeAspect="1"/>
          </p:cNvPicPr>
          <p:nvPr/>
        </p:nvPicPr>
        <p:blipFill>
          <a:blip r:embed="rId3"/>
          <a:stretch>
            <a:fillRect/>
          </a:stretch>
        </p:blipFill>
        <p:spPr>
          <a:xfrm>
            <a:off x="1082754" y="5510808"/>
            <a:ext cx="499705" cy="1143000"/>
          </a:xfrm>
          <a:prstGeom prst="rect">
            <a:avLst/>
          </a:prstGeom>
        </p:spPr>
      </p:pic>
      <p:sp>
        <p:nvSpPr>
          <p:cNvPr id="13" name="Text 7"/>
          <p:cNvSpPr/>
          <p:nvPr/>
        </p:nvSpPr>
        <p:spPr>
          <a:xfrm>
            <a:off x="1749028" y="5677376"/>
            <a:ext cx="2567702" cy="260271"/>
          </a:xfrm>
          <a:prstGeom prst="rect">
            <a:avLst/>
          </a:prstGeom>
          <a:noFill/>
        </p:spPr>
        <p:txBody>
          <a:bodyPr wrap="none" lIns="0" tIns="0" rIns="0" bIns="0" rtlCol="0" anchor="t"/>
          <a:lstStyle/>
          <a:p>
            <a:pPr marL="0" indent="0" algn="l">
              <a:lnSpc>
                <a:spcPts val="2000"/>
              </a:lnSpc>
              <a:buNone/>
            </a:pPr>
            <a:r>
              <a:rPr lang="en-US" sz="1600" b="1" dirty="0">
                <a:solidFill>
                  <a:srgbClr val="55575A"/>
                </a:solidFill>
                <a:latin typeface="Hubot Sans Bold" pitchFamily="34" charset="0"/>
                <a:ea typeface="Hubot Sans Bold" pitchFamily="34" charset="-122"/>
                <a:cs typeface="Hubot Sans Bold" pitchFamily="34" charset="-120"/>
              </a:rPr>
              <a:t>ANALYTICAL PROCESS</a:t>
            </a:r>
            <a:endParaRPr lang="en-US" sz="1600" dirty="0"/>
          </a:p>
        </p:txBody>
      </p:sp>
      <p:sp>
        <p:nvSpPr>
          <p:cNvPr id="14" name="Text 8"/>
          <p:cNvSpPr/>
          <p:nvPr/>
        </p:nvSpPr>
        <p:spPr>
          <a:xfrm>
            <a:off x="1749028" y="6037540"/>
            <a:ext cx="4983123" cy="266462"/>
          </a:xfrm>
          <a:prstGeom prst="rect">
            <a:avLst/>
          </a:prstGeom>
          <a:noFill/>
        </p:spPr>
        <p:txBody>
          <a:bodyPr wrap="none" lIns="0" tIns="0" rIns="0" bIns="0" rtlCol="0" anchor="t"/>
          <a:lstStyle/>
          <a:p>
            <a:pPr marL="0" indent="0" algn="l">
              <a:lnSpc>
                <a:spcPts val="2050"/>
              </a:lnSpc>
              <a:buNone/>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Our analytical journey followed a structured three-step process:</a:t>
            </a:r>
            <a:endParaRPr lang="en-US" sz="1300" dirty="0"/>
          </a:p>
        </p:txBody>
      </p:sp>
      <p:sp>
        <p:nvSpPr>
          <p:cNvPr id="15" name="Text 9"/>
          <p:cNvSpPr/>
          <p:nvPr/>
        </p:nvSpPr>
        <p:spPr>
          <a:xfrm>
            <a:off x="1749028" y="6403896"/>
            <a:ext cx="4983123" cy="266462"/>
          </a:xfrm>
          <a:prstGeom prst="rect">
            <a:avLst/>
          </a:prstGeom>
          <a:noFill/>
        </p:spPr>
        <p:txBody>
          <a:bodyPr wrap="none" lIns="0" tIns="0" rIns="0" bIns="0" rtlCol="0" anchor="t"/>
          <a:lstStyle/>
          <a:p>
            <a:pPr marL="342900" indent="-342900" algn="l">
              <a:lnSpc>
                <a:spcPts val="2050"/>
              </a:lnSpc>
              <a:buSzPct val="100000"/>
              <a:buFont typeface="+mj-lt"/>
              <a:buAutoNum type="arabicPeriod"/>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Loading and thorough cleaning of the raw data to ensure accuracy.</a:t>
            </a:r>
            <a:endParaRPr lang="en-US" sz="1300" dirty="0"/>
          </a:p>
        </p:txBody>
      </p:sp>
      <p:sp>
        <p:nvSpPr>
          <p:cNvPr id="16" name="Text 10"/>
          <p:cNvSpPr/>
          <p:nvPr/>
        </p:nvSpPr>
        <p:spPr>
          <a:xfrm>
            <a:off x="1749028" y="6728579"/>
            <a:ext cx="4983123" cy="266462"/>
          </a:xfrm>
          <a:prstGeom prst="rect">
            <a:avLst/>
          </a:prstGeom>
          <a:noFill/>
        </p:spPr>
        <p:txBody>
          <a:bodyPr wrap="none" lIns="0" tIns="0" rIns="0" bIns="0" rtlCol="0" anchor="t"/>
          <a:lstStyle/>
          <a:p>
            <a:pPr marL="342900" indent="-342900" algn="l">
              <a:lnSpc>
                <a:spcPts val="2050"/>
              </a:lnSpc>
              <a:buSzPct val="100000"/>
              <a:buFont typeface="+mj-lt"/>
              <a:buAutoNum type="arabicPeriod" startAt="2"/>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Calculation of key descriptive statistics for each subject.</a:t>
            </a:r>
            <a:endParaRPr lang="en-US" sz="1300" dirty="0"/>
          </a:p>
        </p:txBody>
      </p:sp>
      <p:sp>
        <p:nvSpPr>
          <p:cNvPr id="17" name="Text 11"/>
          <p:cNvSpPr/>
          <p:nvPr/>
        </p:nvSpPr>
        <p:spPr>
          <a:xfrm>
            <a:off x="1749028" y="7053263"/>
            <a:ext cx="4983123" cy="266462"/>
          </a:xfrm>
          <a:prstGeom prst="rect">
            <a:avLst/>
          </a:prstGeom>
          <a:noFill/>
        </p:spPr>
        <p:txBody>
          <a:bodyPr wrap="none" lIns="0" tIns="0" rIns="0" bIns="0" rtlCol="0" anchor="t"/>
          <a:lstStyle/>
          <a:p>
            <a:pPr marL="342900" indent="-342900" algn="l">
              <a:lnSpc>
                <a:spcPts val="2050"/>
              </a:lnSpc>
              <a:buSzPct val="100000"/>
              <a:buFont typeface="+mj-lt"/>
              <a:buAutoNum type="arabicPeriod" startAt="3"/>
            </a:pPr>
            <a:r>
              <a:rPr lang="en-US" sz="13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Creation of compelling visualisations to illustrate findings.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9622" y="124381"/>
            <a:ext cx="10861596" cy="391120"/>
          </a:xfrm>
          <a:prstGeom prst="rect">
            <a:avLst/>
          </a:prstGeom>
          <a:noFill/>
        </p:spPr>
        <p:txBody>
          <a:bodyPr wrap="none" lIns="0" tIns="0" rIns="0" bIns="0" rtlCol="0" anchor="t"/>
          <a:lstStyle/>
          <a:p>
            <a:pPr marL="0" indent="0" algn="l">
              <a:lnSpc>
                <a:spcPts val="3050"/>
              </a:lnSpc>
              <a:buNone/>
            </a:pPr>
            <a:r>
              <a:rPr lang="en-US" sz="2450" b="1" dirty="0">
                <a:solidFill>
                  <a:srgbClr val="0C0D0F"/>
                </a:solidFill>
                <a:latin typeface="Hubot Sans Bold" pitchFamily="34" charset="0"/>
                <a:ea typeface="Hubot Sans Bold" pitchFamily="34" charset="-122"/>
                <a:cs typeface="Hubot Sans Bold" pitchFamily="34" charset="-120"/>
              </a:rPr>
              <a:t>COMPARISON OF SUBJECT PERFORMANCE: A VISUAL SYNTHESIS</a:t>
            </a:r>
            <a:endParaRPr lang="en-US" sz="2450" dirty="0"/>
          </a:p>
        </p:txBody>
      </p:sp>
      <p:pic>
        <p:nvPicPr>
          <p:cNvPr id="3" name="Image 0" descr="preencoded.png"/>
          <p:cNvPicPr>
            <a:picLocks noChangeAspect="1"/>
          </p:cNvPicPr>
          <p:nvPr/>
        </p:nvPicPr>
        <p:blipFill>
          <a:blip r:embed="rId1"/>
          <a:stretch>
            <a:fillRect/>
          </a:stretch>
        </p:blipFill>
        <p:spPr>
          <a:xfrm>
            <a:off x="-137160" y="528955"/>
            <a:ext cx="13754735" cy="6270625"/>
          </a:xfrm>
          <a:prstGeom prst="rect">
            <a:avLst/>
          </a:prstGeom>
        </p:spPr>
      </p:pic>
      <p:sp>
        <p:nvSpPr>
          <p:cNvPr id="4" name="Text 1"/>
          <p:cNvSpPr/>
          <p:nvPr/>
        </p:nvSpPr>
        <p:spPr>
          <a:xfrm>
            <a:off x="149860" y="7117080"/>
            <a:ext cx="13754735" cy="433705"/>
          </a:xfrm>
          <a:prstGeom prst="rect">
            <a:avLst/>
          </a:prstGeom>
          <a:noFill/>
        </p:spPr>
        <p:txBody>
          <a:bodyPr wrap="none" lIns="0" tIns="0" rIns="0" bIns="0" rtlCol="0" anchor="t"/>
          <a:lstStyle/>
          <a:p>
            <a:pPr marL="0" indent="0" algn="l">
              <a:lnSpc>
                <a:spcPts val="15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 side-by-side comparison of average scores clearly illustrates performance disparities. Visual charts, such as the one above, provided a clear distribution of scores, </a:t>
            </a:r>
            <a:endPar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a:p>
            <a:pPr marL="0" indent="0" algn="l">
              <a:lnSpc>
                <a:spcPts val="15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highlighting subject-specific strengths and weaknesses.</a:t>
            </a:r>
            <a:endPar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5" name="Text 2"/>
          <p:cNvSpPr/>
          <p:nvPr/>
        </p:nvSpPr>
        <p:spPr>
          <a:xfrm>
            <a:off x="149622" y="7709098"/>
            <a:ext cx="13754576" cy="400288"/>
          </a:xfrm>
          <a:prstGeom prst="rect">
            <a:avLst/>
          </a:prstGeom>
          <a:noFill/>
        </p:spPr>
        <p:txBody>
          <a:bodyPr wrap="square" lIns="0" tIns="0" rIns="0" bIns="0" rtlCol="0" anchor="t"/>
          <a:lstStyle/>
          <a:p>
            <a:pPr marL="0" indent="0" algn="l">
              <a:lnSpc>
                <a:spcPts val="1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It was identified that students generally performed best in Mathematics, followed closely by Science, with English showing slightly lower average performance. Possible reasons for these differences might include teaching methodologies, student engagement with the subject matter, or external factors influencing learning.</a:t>
            </a:r>
            <a:endParaRPr lang="en-US" sz="1600"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4455" y="318254"/>
            <a:ext cx="2889528" cy="361117"/>
          </a:xfrm>
          <a:prstGeom prst="rect">
            <a:avLst/>
          </a:prstGeom>
          <a:noFill/>
        </p:spPr>
        <p:txBody>
          <a:bodyPr wrap="none" lIns="0" tIns="0" rIns="0" bIns="0" rtlCol="0" anchor="t"/>
          <a:lstStyle/>
          <a:p>
            <a:pPr marL="0" indent="0" algn="l">
              <a:lnSpc>
                <a:spcPts val="2800"/>
              </a:lnSpc>
              <a:buNone/>
            </a:pPr>
            <a:r>
              <a:rPr lang="en-US" sz="2250" b="1" dirty="0">
                <a:solidFill>
                  <a:srgbClr val="0C0D0F"/>
                </a:solidFill>
                <a:latin typeface="Hubot Sans Bold" pitchFamily="34" charset="0"/>
                <a:ea typeface="Hubot Sans Bold" pitchFamily="34" charset="-122"/>
                <a:cs typeface="Hubot Sans Bold" pitchFamily="34" charset="-120"/>
              </a:rPr>
              <a:t>RESULTS</a:t>
            </a:r>
            <a:endParaRPr lang="en-US" sz="2250" dirty="0"/>
          </a:p>
        </p:txBody>
      </p:sp>
      <p:sp>
        <p:nvSpPr>
          <p:cNvPr id="3" name="Text 1"/>
          <p:cNvSpPr/>
          <p:nvPr/>
        </p:nvSpPr>
        <p:spPr>
          <a:xfrm>
            <a:off x="190460" y="910471"/>
            <a:ext cx="13821489" cy="184904"/>
          </a:xfrm>
          <a:prstGeom prst="rect">
            <a:avLst/>
          </a:prstGeom>
          <a:noFill/>
        </p:spPr>
        <p:txBody>
          <a:bodyPr wrap="none" lIns="0" tIns="0" rIns="0" bIns="0" rtlCol="0" anchor="t"/>
          <a:lstStyle/>
          <a:p>
            <a:pPr marL="342900" indent="-342900" algn="l">
              <a:lnSpc>
                <a:spcPts val="145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Mathematics recorded the highest average score: 78%.</a:t>
            </a:r>
            <a:endParaRPr lang="en-US" sz="1600" dirty="0"/>
          </a:p>
        </p:txBody>
      </p:sp>
      <p:sp>
        <p:nvSpPr>
          <p:cNvPr id="4" name="Text 2"/>
          <p:cNvSpPr/>
          <p:nvPr/>
        </p:nvSpPr>
        <p:spPr>
          <a:xfrm>
            <a:off x="190460" y="1417042"/>
            <a:ext cx="13821489" cy="184904"/>
          </a:xfrm>
          <a:prstGeom prst="rect">
            <a:avLst/>
          </a:prstGeom>
          <a:noFill/>
        </p:spPr>
        <p:txBody>
          <a:bodyPr wrap="none" lIns="0" tIns="0" rIns="0" bIns="0" rtlCol="0" anchor="t"/>
          <a:lstStyle/>
          <a:p>
            <a:pPr marL="342900" indent="-342900" algn="l">
              <a:lnSpc>
                <a:spcPts val="145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English Language scores exhibited greater variation, average 77%.</a:t>
            </a:r>
            <a:endPar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5" name="Text 3"/>
          <p:cNvSpPr/>
          <p:nvPr/>
        </p:nvSpPr>
        <p:spPr>
          <a:xfrm>
            <a:off x="190500" y="1842135"/>
            <a:ext cx="13821410" cy="379095"/>
          </a:xfrm>
          <a:prstGeom prst="rect">
            <a:avLst/>
          </a:prstGeom>
          <a:noFill/>
        </p:spPr>
        <p:txBody>
          <a:bodyPr wrap="none" lIns="0" tIns="0" rIns="0" bIns="0" rtlCol="0" anchor="t"/>
          <a:lstStyle/>
          <a:p>
            <a:pPr marL="342900" indent="-342900" algn="l">
              <a:lnSpc>
                <a:spcPts val="1450"/>
              </a:lnSpc>
              <a:buSzPct val="100000"/>
              <a:buChar char="•"/>
            </a:pPr>
            <a:r>
              <a:rPr lang="en-US" b="1" dirty="0">
                <a:solidFill>
                  <a:srgbClr val="55575A"/>
                </a:solidFill>
                <a:latin typeface="Times New Roman" panose="02020603050405020304" charset="0"/>
                <a:ea typeface="Roboto Condensed" panose="02000000000000000000" pitchFamily="34" charset="-122"/>
                <a:cs typeface="Times New Roman" panose="02020603050405020304" charset="0"/>
              </a:rPr>
              <a:t>Science scores demonstrated consistent performance, average 80%</a:t>
            </a:r>
            <a:r>
              <a:rPr lang="en-US" sz="1600" b="1" dirty="0">
                <a:solidFill>
                  <a:srgbClr val="55575A"/>
                </a:solidFill>
                <a:latin typeface="Times New Roman" panose="02020603050405020304" charset="0"/>
                <a:ea typeface="Roboto Condensed" panose="02000000000000000000" pitchFamily="34" charset="-122"/>
                <a:cs typeface="Times New Roman" panose="02020603050405020304" charset="0"/>
              </a:rPr>
              <a:t>.</a:t>
            </a:r>
            <a:endParaRPr lang="en-US" sz="1600" b="1" dirty="0">
              <a:solidFill>
                <a:srgbClr val="55575A"/>
              </a:solidFill>
              <a:latin typeface="Times New Roman" panose="02020603050405020304" charset="0"/>
              <a:ea typeface="Roboto Condensed" panose="02000000000000000000" pitchFamily="34" charset="-122"/>
              <a:cs typeface="Times New Roman" panose="02020603050405020304" charset="0"/>
            </a:endParaRPr>
          </a:p>
          <a:p>
            <a:pPr marL="342900" indent="-342900" algn="l">
              <a:lnSpc>
                <a:spcPts val="1450"/>
              </a:lnSpc>
              <a:buSzPct val="100000"/>
              <a:buChar char="•"/>
            </a:pPr>
            <a:endParaRPr lang="en-US" sz="1600" dirty="0"/>
          </a:p>
          <a:p>
            <a:pPr indent="0" algn="l">
              <a:lnSpc>
                <a:spcPts val="1450"/>
              </a:lnSpc>
              <a:buSzPct val="100000"/>
              <a:buNone/>
            </a:pPr>
            <a:endParaRPr lang="en-US" sz="1600" dirty="0"/>
          </a:p>
        </p:txBody>
      </p:sp>
      <p:sp>
        <p:nvSpPr>
          <p:cNvPr id="6" name="Text 4"/>
          <p:cNvSpPr/>
          <p:nvPr/>
        </p:nvSpPr>
        <p:spPr>
          <a:xfrm>
            <a:off x="190500" y="2339975"/>
            <a:ext cx="13821410" cy="332105"/>
          </a:xfrm>
          <a:prstGeom prst="rect">
            <a:avLst/>
          </a:prstGeom>
          <a:noFill/>
        </p:spPr>
        <p:txBody>
          <a:bodyPr wrap="none" lIns="0" tIns="0" rIns="0" bIns="0" rtlCol="0" anchor="t"/>
          <a:lstStyle/>
          <a:p>
            <a:pPr marL="342900" indent="-342900" algn="l">
              <a:lnSpc>
                <a:spcPts val="1450"/>
              </a:lnSpc>
              <a:buSzPct val="100000"/>
              <a:buChar char="•"/>
            </a:pPr>
            <a:r>
              <a:rPr lang="en-US" altLang="en-US" sz="1600" b="1" dirty="0">
                <a:latin typeface="Times New Roman" panose="02020603050405020304" charset="0"/>
                <a:cs typeface="Times New Roman" panose="02020603050405020304" charset="0"/>
              </a:rPr>
              <a:t>Overall, students’ performance across subjects is relatively balanced, with minor differences in averages.</a:t>
            </a:r>
            <a:endParaRPr lang="en-US" altLang="en-US" sz="1600" b="1" dirty="0">
              <a:latin typeface="Times New Roman" panose="02020603050405020304" charset="0"/>
              <a:cs typeface="Times New Roman" panose="02020603050405020304" charset="0"/>
            </a:endParaRPr>
          </a:p>
        </p:txBody>
      </p:sp>
      <p:sp>
        <p:nvSpPr>
          <p:cNvPr id="20" name="Text Box 19"/>
          <p:cNvSpPr txBox="1"/>
          <p:nvPr/>
        </p:nvSpPr>
        <p:spPr>
          <a:xfrm>
            <a:off x="12077700" y="7550785"/>
            <a:ext cx="2552700" cy="558165"/>
          </a:xfrm>
          <a:prstGeom prst="rect">
            <a:avLst/>
          </a:prstGeom>
          <a:solidFill>
            <a:schemeClr val="bg2"/>
          </a:solidFill>
        </p:spPr>
        <p:txBody>
          <a:bodyPr wrap="square" rtlCol="0">
            <a:noAutofit/>
          </a:bodyPr>
          <a:p>
            <a:endParaRPr lang="en-US"/>
          </a:p>
        </p:txBody>
      </p:sp>
      <p:pic>
        <p:nvPicPr>
          <p:cNvPr id="11" name="Picture 10" descr="Screenshot 2025-12-26 122947"/>
          <p:cNvPicPr>
            <a:picLocks noChangeAspect="1"/>
          </p:cNvPicPr>
          <p:nvPr/>
        </p:nvPicPr>
        <p:blipFill>
          <a:blip r:embed="rId1"/>
          <a:srcRect t="7253" r="11422" b="7181"/>
          <a:stretch>
            <a:fillRect/>
          </a:stretch>
        </p:blipFill>
        <p:spPr>
          <a:xfrm>
            <a:off x="279400" y="2672080"/>
            <a:ext cx="9652000" cy="5123180"/>
          </a:xfrm>
          <a:prstGeom prst="rect">
            <a:avLst/>
          </a:prstGeom>
        </p:spPr>
      </p:pic>
      <p:sp>
        <p:nvSpPr>
          <p:cNvPr id="12" name="Text Box 11"/>
          <p:cNvSpPr txBox="1"/>
          <p:nvPr/>
        </p:nvSpPr>
        <p:spPr>
          <a:xfrm>
            <a:off x="404495" y="7795260"/>
            <a:ext cx="8357870" cy="337185"/>
          </a:xfrm>
          <a:prstGeom prst="rect">
            <a:avLst/>
          </a:prstGeom>
          <a:noFill/>
        </p:spPr>
        <p:txBody>
          <a:bodyPr wrap="square" rtlCol="0">
            <a:spAutoFit/>
          </a:bodyPr>
          <a:p>
            <a:r>
              <a:rPr lang="en-US" sz="1600" b="1"/>
              <a:t>(Graph showing average scores in Math,English, and S ciense)</a:t>
            </a:r>
            <a:endParaRPr lang="en-US" sz="16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93990" y="400764"/>
            <a:ext cx="8156019" cy="882253"/>
          </a:xfrm>
          <a:prstGeom prst="rect">
            <a:avLst/>
          </a:prstGeom>
          <a:noFill/>
        </p:spPr>
        <p:txBody>
          <a:bodyPr wrap="square" lIns="0" tIns="0" rIns="0" bIns="0" rtlCol="0" anchor="t"/>
          <a:lstStyle/>
          <a:p>
            <a:pPr marL="0" indent="0" algn="l">
              <a:lnSpc>
                <a:spcPts val="3450"/>
              </a:lnSpc>
              <a:buNone/>
            </a:pPr>
            <a:r>
              <a:rPr lang="en-US" sz="2750" b="1" dirty="0">
                <a:solidFill>
                  <a:srgbClr val="0C0D0F"/>
                </a:solidFill>
                <a:latin typeface="Hubot Sans Bold" pitchFamily="34" charset="0"/>
                <a:ea typeface="Hubot Sans Bold" pitchFamily="34" charset="-122"/>
                <a:cs typeface="Hubot Sans Bold" pitchFamily="34" charset="-120"/>
              </a:rPr>
              <a:t>KEY FINDINGS: UNPACKING THE PERFORMANCE DATA</a:t>
            </a:r>
            <a:endParaRPr lang="en-US" sz="2750" dirty="0"/>
          </a:p>
        </p:txBody>
      </p:sp>
      <p:sp>
        <p:nvSpPr>
          <p:cNvPr id="4" name="Shape 1"/>
          <p:cNvSpPr/>
          <p:nvPr>
            <p:custDataLst>
              <p:tags r:id="rId2"/>
            </p:custDataLst>
          </p:nvPr>
        </p:nvSpPr>
        <p:spPr>
          <a:xfrm>
            <a:off x="493990" y="1706404"/>
            <a:ext cx="8156019" cy="1265992"/>
          </a:xfrm>
          <a:prstGeom prst="roundRect">
            <a:avLst>
              <a:gd name="adj" fmla="val 5778"/>
            </a:avLst>
          </a:prstGeom>
          <a:solidFill>
            <a:srgbClr val="E8E8E3"/>
          </a:solidFill>
        </p:spPr>
      </p:sp>
      <p:sp>
        <p:nvSpPr>
          <p:cNvPr id="5" name="Shape 2"/>
          <p:cNvSpPr/>
          <p:nvPr>
            <p:custDataLst>
              <p:tags r:id="rId3"/>
            </p:custDataLst>
          </p:nvPr>
        </p:nvSpPr>
        <p:spPr>
          <a:xfrm>
            <a:off x="493990" y="1691164"/>
            <a:ext cx="8156019" cy="60960"/>
          </a:xfrm>
          <a:prstGeom prst="roundRect">
            <a:avLst>
              <a:gd name="adj" fmla="val 34733"/>
            </a:avLst>
          </a:prstGeom>
          <a:solidFill>
            <a:srgbClr val="C8CAC1"/>
          </a:solidFill>
        </p:spPr>
      </p:sp>
      <p:sp>
        <p:nvSpPr>
          <p:cNvPr id="6" name="Shape 3"/>
          <p:cNvSpPr/>
          <p:nvPr>
            <p:custDataLst>
              <p:tags r:id="rId4"/>
            </p:custDataLst>
          </p:nvPr>
        </p:nvSpPr>
        <p:spPr>
          <a:xfrm>
            <a:off x="4360307" y="1494711"/>
            <a:ext cx="423386" cy="423386"/>
          </a:xfrm>
          <a:prstGeom prst="roundRect">
            <a:avLst>
              <a:gd name="adj" fmla="val 215973"/>
            </a:avLst>
          </a:prstGeom>
          <a:solidFill>
            <a:srgbClr val="C8CAC1">
              <a:alpha val="50000"/>
            </a:srgbClr>
          </a:solidFill>
        </p:spPr>
      </p:sp>
      <p:pic>
        <p:nvPicPr>
          <p:cNvPr id="7" name="Image 1" descr="preencoded.png"/>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4487347" y="1621750"/>
            <a:ext cx="169307" cy="169307"/>
          </a:xfrm>
          <a:prstGeom prst="rect">
            <a:avLst/>
          </a:prstGeom>
        </p:spPr>
      </p:pic>
      <p:sp>
        <p:nvSpPr>
          <p:cNvPr id="8" name="Text 4"/>
          <p:cNvSpPr/>
          <p:nvPr>
            <p:custDataLst>
              <p:tags r:id="rId8"/>
            </p:custDataLst>
          </p:nvPr>
        </p:nvSpPr>
        <p:spPr>
          <a:xfrm>
            <a:off x="650319" y="2059186"/>
            <a:ext cx="1807964" cy="220504"/>
          </a:xfrm>
          <a:prstGeom prst="rect">
            <a:avLst/>
          </a:prstGeom>
          <a:noFill/>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MATH EXCELLENCE</a:t>
            </a:r>
            <a:endParaRPr lang="en-US" sz="1350" dirty="0"/>
          </a:p>
        </p:txBody>
      </p:sp>
      <p:sp>
        <p:nvSpPr>
          <p:cNvPr id="9" name="Text 5"/>
          <p:cNvSpPr/>
          <p:nvPr>
            <p:custDataLst>
              <p:tags r:id="rId9"/>
            </p:custDataLst>
          </p:nvPr>
        </p:nvSpPr>
        <p:spPr>
          <a:xfrm>
            <a:off x="650319" y="2606278"/>
            <a:ext cx="7843361" cy="451723"/>
          </a:xfrm>
          <a:prstGeom prst="rect">
            <a:avLst/>
          </a:prstGeom>
          <a:noFill/>
        </p:spPr>
        <p:txBody>
          <a:bodyPr wrap="square" lIns="0" tIns="0" rIns="0" bIns="0" rtlCol="0" anchor="t"/>
          <a:lstStyle/>
          <a:p>
            <a:pPr marL="0" indent="0" algn="l">
              <a:lnSpc>
                <a:spcPts val="17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Mathematics recorded the highest average score, standing at </a:t>
            </a:r>
            <a:r>
              <a:rPr lang="en-US" sz="14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78%</a:t>
            </a: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indicating a strong overall grasp of numerical concepts and problem-solving skills among the student cohort.</a:t>
            </a:r>
            <a:endParaRPr lang="en-US" sz="1400" dirty="0"/>
          </a:p>
        </p:txBody>
      </p:sp>
      <p:sp>
        <p:nvSpPr>
          <p:cNvPr id="10" name="Shape 6"/>
          <p:cNvSpPr/>
          <p:nvPr>
            <p:custDataLst>
              <p:tags r:id="rId10"/>
            </p:custDataLst>
          </p:nvPr>
        </p:nvSpPr>
        <p:spPr>
          <a:xfrm>
            <a:off x="493990" y="3325178"/>
            <a:ext cx="8156019" cy="1265992"/>
          </a:xfrm>
          <a:prstGeom prst="roundRect">
            <a:avLst>
              <a:gd name="adj" fmla="val 5778"/>
            </a:avLst>
          </a:prstGeom>
          <a:solidFill>
            <a:srgbClr val="E8E8E3"/>
          </a:solidFill>
        </p:spPr>
      </p:sp>
      <p:sp>
        <p:nvSpPr>
          <p:cNvPr id="11" name="Shape 7"/>
          <p:cNvSpPr/>
          <p:nvPr>
            <p:custDataLst>
              <p:tags r:id="rId11"/>
            </p:custDataLst>
          </p:nvPr>
        </p:nvSpPr>
        <p:spPr>
          <a:xfrm>
            <a:off x="493990" y="3309938"/>
            <a:ext cx="8156019" cy="60960"/>
          </a:xfrm>
          <a:prstGeom prst="roundRect">
            <a:avLst>
              <a:gd name="adj" fmla="val 34733"/>
            </a:avLst>
          </a:prstGeom>
          <a:solidFill>
            <a:srgbClr val="C8CAC1"/>
          </a:solidFill>
        </p:spPr>
      </p:sp>
      <p:sp>
        <p:nvSpPr>
          <p:cNvPr id="12" name="Shape 8"/>
          <p:cNvSpPr/>
          <p:nvPr>
            <p:custDataLst>
              <p:tags r:id="rId12"/>
            </p:custDataLst>
          </p:nvPr>
        </p:nvSpPr>
        <p:spPr>
          <a:xfrm>
            <a:off x="4360307" y="3113484"/>
            <a:ext cx="423386" cy="423386"/>
          </a:xfrm>
          <a:prstGeom prst="roundRect">
            <a:avLst>
              <a:gd name="adj" fmla="val 215973"/>
            </a:avLst>
          </a:prstGeom>
          <a:solidFill>
            <a:srgbClr val="C8CAC1">
              <a:alpha val="50000"/>
            </a:srgbClr>
          </a:solidFill>
        </p:spPr>
      </p:sp>
      <p:pic>
        <p:nvPicPr>
          <p:cNvPr id="13" name="Image 2" descr="preencoded.png"/>
          <p:cNvPicPr>
            <a:picLocks noChangeAspect="1"/>
          </p:cNvPicPr>
          <p:nvPr>
            <p:custDataLst>
              <p:tags r:id="rId13"/>
            </p:custDataLst>
          </p:nvPr>
        </p:nvPicPr>
        <p:blipFill>
          <a:blip r:embed="rId6">
            <a:extLst>
              <a:ext uri="{96DAC541-7B7A-43D3-8B79-37D633B846F1}">
                <asvg:svgBlip xmlns:asvg="http://schemas.microsoft.com/office/drawing/2016/SVG/main" r:embed="rId14"/>
              </a:ext>
            </a:extLst>
          </a:blip>
          <a:stretch>
            <a:fillRect/>
          </a:stretch>
        </p:blipFill>
        <p:spPr>
          <a:xfrm>
            <a:off x="4487347" y="3240524"/>
            <a:ext cx="169307" cy="169307"/>
          </a:xfrm>
          <a:prstGeom prst="rect">
            <a:avLst/>
          </a:prstGeom>
        </p:spPr>
      </p:pic>
      <p:sp>
        <p:nvSpPr>
          <p:cNvPr id="14" name="Text 9"/>
          <p:cNvSpPr/>
          <p:nvPr>
            <p:custDataLst>
              <p:tags r:id="rId15"/>
            </p:custDataLst>
          </p:nvPr>
        </p:nvSpPr>
        <p:spPr>
          <a:xfrm>
            <a:off x="650319" y="3677960"/>
            <a:ext cx="2266236" cy="220504"/>
          </a:xfrm>
          <a:prstGeom prst="rect">
            <a:avLst/>
          </a:prstGeom>
          <a:noFill/>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ENGLISH VARIABILITY</a:t>
            </a:r>
            <a:endParaRPr lang="en-US" sz="1350" dirty="0"/>
          </a:p>
        </p:txBody>
      </p:sp>
      <p:sp>
        <p:nvSpPr>
          <p:cNvPr id="15" name="Text 10"/>
          <p:cNvSpPr/>
          <p:nvPr>
            <p:custDataLst>
              <p:tags r:id="rId16"/>
            </p:custDataLst>
          </p:nvPr>
        </p:nvSpPr>
        <p:spPr>
          <a:xfrm>
            <a:off x="806450" y="4109720"/>
            <a:ext cx="7843520" cy="629920"/>
          </a:xfrm>
          <a:prstGeom prst="rect">
            <a:avLst/>
          </a:prstGeom>
          <a:noFill/>
        </p:spPr>
        <p:txBody>
          <a:bodyPr wrap="square" lIns="0" tIns="0" rIns="0" bIns="0" rtlCol="0" anchor="t"/>
          <a:lstStyle/>
          <a:p>
            <a:pPr marL="0" indent="0" algn="l">
              <a:lnSpc>
                <a:spcPts val="17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English Language scores exhibited greater variation across students, with an average of </a:t>
            </a:r>
            <a:r>
              <a:rPr lang="en-US" sz="14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77%</a:t>
            </a: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This suggests a diverse range of abilities in reading, writing, and comprehension.</a:t>
            </a:r>
            <a:endParaRPr lang="en-US" sz="1400" dirty="0"/>
          </a:p>
        </p:txBody>
      </p:sp>
      <p:sp>
        <p:nvSpPr>
          <p:cNvPr id="16" name="Shape 11"/>
          <p:cNvSpPr/>
          <p:nvPr>
            <p:custDataLst>
              <p:tags r:id="rId17"/>
            </p:custDataLst>
          </p:nvPr>
        </p:nvSpPr>
        <p:spPr>
          <a:xfrm>
            <a:off x="493990" y="4943951"/>
            <a:ext cx="8156019" cy="1265992"/>
          </a:xfrm>
          <a:prstGeom prst="roundRect">
            <a:avLst>
              <a:gd name="adj" fmla="val 5778"/>
            </a:avLst>
          </a:prstGeom>
          <a:solidFill>
            <a:srgbClr val="E8E8E3"/>
          </a:solidFill>
        </p:spPr>
      </p:sp>
      <p:sp>
        <p:nvSpPr>
          <p:cNvPr id="17" name="Shape 12"/>
          <p:cNvSpPr/>
          <p:nvPr>
            <p:custDataLst>
              <p:tags r:id="rId18"/>
            </p:custDataLst>
          </p:nvPr>
        </p:nvSpPr>
        <p:spPr>
          <a:xfrm>
            <a:off x="493990" y="4928711"/>
            <a:ext cx="8156019" cy="60960"/>
          </a:xfrm>
          <a:prstGeom prst="roundRect">
            <a:avLst>
              <a:gd name="adj" fmla="val 34733"/>
            </a:avLst>
          </a:prstGeom>
          <a:solidFill>
            <a:srgbClr val="C8CAC1"/>
          </a:solidFill>
        </p:spPr>
      </p:sp>
      <p:sp>
        <p:nvSpPr>
          <p:cNvPr id="18" name="Shape 13"/>
          <p:cNvSpPr/>
          <p:nvPr>
            <p:custDataLst>
              <p:tags r:id="rId19"/>
            </p:custDataLst>
          </p:nvPr>
        </p:nvSpPr>
        <p:spPr>
          <a:xfrm>
            <a:off x="4360307" y="4732258"/>
            <a:ext cx="423386" cy="423386"/>
          </a:xfrm>
          <a:prstGeom prst="roundRect">
            <a:avLst>
              <a:gd name="adj" fmla="val 215973"/>
            </a:avLst>
          </a:prstGeom>
          <a:solidFill>
            <a:srgbClr val="C8CAC1">
              <a:alpha val="50000"/>
            </a:srgbClr>
          </a:solidFill>
        </p:spPr>
      </p:sp>
      <p:pic>
        <p:nvPicPr>
          <p:cNvPr id="19" name="Image 3" descr="preencoded.png"/>
          <p:cNvPicPr>
            <a:picLocks noChangeAspect="1"/>
          </p:cNvPicPr>
          <p:nvPr>
            <p:custDataLst>
              <p:tags r:id="rId20"/>
            </p:custDataLst>
          </p:nvPr>
        </p:nvPicPr>
        <p:blipFill>
          <a:blip r:embed="rId6">
            <a:extLst>
              <a:ext uri="{96DAC541-7B7A-43D3-8B79-37D633B846F1}">
                <asvg:svgBlip xmlns:asvg="http://schemas.microsoft.com/office/drawing/2016/SVG/main" r:embed="rId21"/>
              </a:ext>
            </a:extLst>
          </a:blip>
          <a:stretch>
            <a:fillRect/>
          </a:stretch>
        </p:blipFill>
        <p:spPr>
          <a:xfrm>
            <a:off x="4487347" y="4859298"/>
            <a:ext cx="169307" cy="169307"/>
          </a:xfrm>
          <a:prstGeom prst="rect">
            <a:avLst/>
          </a:prstGeom>
        </p:spPr>
      </p:pic>
      <p:sp>
        <p:nvSpPr>
          <p:cNvPr id="20" name="Text 14"/>
          <p:cNvSpPr/>
          <p:nvPr>
            <p:custDataLst>
              <p:tags r:id="rId22"/>
            </p:custDataLst>
          </p:nvPr>
        </p:nvSpPr>
        <p:spPr>
          <a:xfrm>
            <a:off x="650319" y="5296733"/>
            <a:ext cx="2175986" cy="220504"/>
          </a:xfrm>
          <a:prstGeom prst="rect">
            <a:avLst/>
          </a:prstGeom>
          <a:noFill/>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CONSISTENT SCIENCE</a:t>
            </a:r>
            <a:endParaRPr lang="en-US" sz="1350" dirty="0"/>
          </a:p>
        </p:txBody>
      </p:sp>
      <p:sp>
        <p:nvSpPr>
          <p:cNvPr id="21" name="Text 15"/>
          <p:cNvSpPr/>
          <p:nvPr>
            <p:custDataLst>
              <p:tags r:id="rId23"/>
            </p:custDataLst>
          </p:nvPr>
        </p:nvSpPr>
        <p:spPr>
          <a:xfrm>
            <a:off x="650319" y="5708571"/>
            <a:ext cx="7843361" cy="451723"/>
          </a:xfrm>
          <a:prstGeom prst="rect">
            <a:avLst/>
          </a:prstGeom>
          <a:noFill/>
        </p:spPr>
        <p:txBody>
          <a:bodyPr wrap="square" lIns="0" tIns="0" rIns="0" bIns="0" rtlCol="0" anchor="t"/>
          <a:lstStyle/>
          <a:p>
            <a:pPr marL="0" indent="0" algn="l">
              <a:lnSpc>
                <a:spcPts val="17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Science scores demonstrated a consistent performance level, achieving an average of 80</a:t>
            </a:r>
            <a:r>
              <a:rPr lang="en-US" sz="14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t>
            </a: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This indicates a generally steady understanding of scientific principles and concepts.</a:t>
            </a:r>
            <a:endParaRPr lang="en-US" sz="1400" dirty="0"/>
          </a:p>
        </p:txBody>
      </p:sp>
      <p:sp>
        <p:nvSpPr>
          <p:cNvPr id="22" name="Shape 16"/>
          <p:cNvSpPr/>
          <p:nvPr>
            <p:custDataLst>
              <p:tags r:id="rId24"/>
            </p:custDataLst>
          </p:nvPr>
        </p:nvSpPr>
        <p:spPr>
          <a:xfrm>
            <a:off x="493990" y="6562725"/>
            <a:ext cx="8156019" cy="1265992"/>
          </a:xfrm>
          <a:prstGeom prst="roundRect">
            <a:avLst>
              <a:gd name="adj" fmla="val 5778"/>
            </a:avLst>
          </a:prstGeom>
          <a:solidFill>
            <a:srgbClr val="E8E8E3"/>
          </a:solidFill>
        </p:spPr>
      </p:sp>
      <p:sp>
        <p:nvSpPr>
          <p:cNvPr id="23" name="Shape 17"/>
          <p:cNvSpPr/>
          <p:nvPr>
            <p:custDataLst>
              <p:tags r:id="rId25"/>
            </p:custDataLst>
          </p:nvPr>
        </p:nvSpPr>
        <p:spPr>
          <a:xfrm>
            <a:off x="493990" y="6547485"/>
            <a:ext cx="8156019" cy="60960"/>
          </a:xfrm>
          <a:prstGeom prst="roundRect">
            <a:avLst>
              <a:gd name="adj" fmla="val 34733"/>
            </a:avLst>
          </a:prstGeom>
          <a:solidFill>
            <a:srgbClr val="C8CAC1"/>
          </a:solidFill>
        </p:spPr>
      </p:sp>
      <p:sp>
        <p:nvSpPr>
          <p:cNvPr id="24" name="Shape 18"/>
          <p:cNvSpPr/>
          <p:nvPr>
            <p:custDataLst>
              <p:tags r:id="rId26"/>
            </p:custDataLst>
          </p:nvPr>
        </p:nvSpPr>
        <p:spPr>
          <a:xfrm>
            <a:off x="4360307" y="6351032"/>
            <a:ext cx="423386" cy="423386"/>
          </a:xfrm>
          <a:prstGeom prst="roundRect">
            <a:avLst>
              <a:gd name="adj" fmla="val 215973"/>
            </a:avLst>
          </a:prstGeom>
          <a:solidFill>
            <a:srgbClr val="C8CAC1">
              <a:alpha val="50000"/>
            </a:srgbClr>
          </a:solidFill>
        </p:spPr>
      </p:sp>
      <p:pic>
        <p:nvPicPr>
          <p:cNvPr id="25" name="Image 4" descr="preencoded.png"/>
          <p:cNvPicPr>
            <a:picLocks noChangeAspect="1"/>
          </p:cNvPicPr>
          <p:nvPr>
            <p:custDataLst>
              <p:tags r:id="rId27"/>
            </p:custDataLst>
          </p:nvPr>
        </p:nvPicPr>
        <p:blipFill>
          <a:blip r:embed="rId6">
            <a:extLst>
              <a:ext uri="{96DAC541-7B7A-43D3-8B79-37D633B846F1}">
                <asvg:svgBlip xmlns:asvg="http://schemas.microsoft.com/office/drawing/2016/SVG/main" r:embed="rId28"/>
              </a:ext>
            </a:extLst>
          </a:blip>
          <a:stretch>
            <a:fillRect/>
          </a:stretch>
        </p:blipFill>
        <p:spPr>
          <a:xfrm>
            <a:off x="4487347" y="6478072"/>
            <a:ext cx="169307" cy="169307"/>
          </a:xfrm>
          <a:prstGeom prst="rect">
            <a:avLst/>
          </a:prstGeom>
        </p:spPr>
      </p:pic>
      <p:sp>
        <p:nvSpPr>
          <p:cNvPr id="26" name="Text 19"/>
          <p:cNvSpPr/>
          <p:nvPr>
            <p:custDataLst>
              <p:tags r:id="rId29"/>
            </p:custDataLst>
          </p:nvPr>
        </p:nvSpPr>
        <p:spPr>
          <a:xfrm>
            <a:off x="650319" y="6915507"/>
            <a:ext cx="1834277" cy="220504"/>
          </a:xfrm>
          <a:prstGeom prst="rect">
            <a:avLst/>
          </a:prstGeom>
          <a:noFill/>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MIXED APTITUDES</a:t>
            </a:r>
            <a:endParaRPr lang="en-US" sz="1350" dirty="0"/>
          </a:p>
        </p:txBody>
      </p:sp>
      <p:sp>
        <p:nvSpPr>
          <p:cNvPr id="27" name="Text 20"/>
          <p:cNvSpPr/>
          <p:nvPr>
            <p:custDataLst>
              <p:tags r:id="rId30"/>
            </p:custDataLst>
          </p:nvPr>
        </p:nvSpPr>
        <p:spPr>
          <a:xfrm>
            <a:off x="650240" y="7220585"/>
            <a:ext cx="7843520" cy="781050"/>
          </a:xfrm>
          <a:prstGeom prst="rect">
            <a:avLst/>
          </a:prstGeom>
          <a:noFill/>
        </p:spPr>
        <p:txBody>
          <a:bodyPr wrap="square" lIns="0" tIns="0" rIns="0" bIns="0" rtlCol="0" anchor="t"/>
          <a:lstStyle/>
          <a:p>
            <a:pPr marL="0" indent="0" algn="l">
              <a:lnSpc>
                <a:spcPts val="1750"/>
              </a:lnSpc>
              <a:buNone/>
            </a:pPr>
            <a:r>
              <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 significant finding was the presence of students who excelled remarkably in one subject while facing considerable challenges in others, underscoring individual learning profiles.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4853" y="674132"/>
            <a:ext cx="13399294" cy="1099185"/>
          </a:xfrm>
          <a:prstGeom prst="rect">
            <a:avLst/>
          </a:prstGeom>
          <a:noFill/>
        </p:spPr>
        <p:txBody>
          <a:bodyPr wrap="square" lIns="0" tIns="0" rIns="0" bIns="0" rtlCol="0" anchor="t"/>
          <a:lstStyle/>
          <a:p>
            <a:pPr marL="0" indent="0" algn="l">
              <a:lnSpc>
                <a:spcPts val="4300"/>
              </a:lnSpc>
              <a:buNone/>
            </a:pPr>
            <a:r>
              <a:rPr lang="en-US" sz="3600" b="1" dirty="0">
                <a:solidFill>
                  <a:srgbClr val="0C0D0F"/>
                </a:solidFill>
                <a:latin typeface="Hubot Sans Bold" pitchFamily="34" charset="0"/>
                <a:ea typeface="Hubot Sans Bold" pitchFamily="34" charset="-122"/>
                <a:cs typeface="Hubot Sans Bold" pitchFamily="34" charset="-120"/>
              </a:rPr>
              <a:t>CONCLUSION: DATA-DRIVEN EDUCATION FOR THE FUTURE</a:t>
            </a:r>
            <a:endParaRPr lang="en-US" sz="3600" dirty="0"/>
          </a:p>
        </p:txBody>
      </p:sp>
      <p:sp>
        <p:nvSpPr>
          <p:cNvPr id="3" name="Text 1"/>
          <p:cNvSpPr/>
          <p:nvPr/>
        </p:nvSpPr>
        <p:spPr>
          <a:xfrm>
            <a:off x="336153" y="2572583"/>
            <a:ext cx="6485096" cy="562689"/>
          </a:xfrm>
          <a:prstGeom prst="rect">
            <a:avLst/>
          </a:prstGeom>
          <a:noFill/>
        </p:spPr>
        <p:txBody>
          <a:bodyPr wrap="square" lIns="0" tIns="0" rIns="0" bIns="0" rtlCol="0" anchor="t"/>
          <a:lstStyle/>
          <a:p>
            <a:pPr marL="342900" indent="-342900" algn="l">
              <a:lnSpc>
                <a:spcPts val="220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The project unequivocally demonstrates Python's effectiveness as a powerful tool for comprehensive student data analysis, providing clear and actionable insights.</a:t>
            </a:r>
            <a:endPar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4" name="Text 2"/>
          <p:cNvSpPr/>
          <p:nvPr/>
        </p:nvSpPr>
        <p:spPr>
          <a:xfrm>
            <a:off x="412353" y="3535283"/>
            <a:ext cx="6485096" cy="844034"/>
          </a:xfrm>
          <a:prstGeom prst="rect">
            <a:avLst/>
          </a:prstGeom>
          <a:noFill/>
        </p:spPr>
        <p:txBody>
          <a:bodyPr wrap="square" lIns="0" tIns="0" rIns="0" bIns="0" rtlCol="0" anchor="t"/>
          <a:lstStyle/>
          <a:p>
            <a:pPr marL="342900" indent="-342900" algn="l">
              <a:lnSpc>
                <a:spcPts val="220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Understanding subject-specific performance is crucial. These insights enable educators to craft highly targeted interventions and curriculum adjustments, directly addressing areas of weakness and reinforcing strengths.</a:t>
            </a:r>
            <a:endPar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5" name="Text 3"/>
          <p:cNvSpPr/>
          <p:nvPr/>
        </p:nvSpPr>
        <p:spPr>
          <a:xfrm>
            <a:off x="412353" y="4779328"/>
            <a:ext cx="6485096" cy="844034"/>
          </a:xfrm>
          <a:prstGeom prst="rect">
            <a:avLst/>
          </a:prstGeom>
          <a:noFill/>
        </p:spPr>
        <p:txBody>
          <a:bodyPr wrap="square" lIns="0" tIns="0" rIns="0" bIns="0" rtlCol="0" anchor="t"/>
          <a:lstStyle/>
          <a:p>
            <a:pPr marL="342900" indent="-342900" algn="l">
              <a:lnSpc>
                <a:spcPts val="220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Future research could significantly enhance this analysis by integrating additional influential factors, such as student attendance records, dedicated study hours, or socio-economic backgrounds, for a more holistic view.</a:t>
            </a:r>
            <a:endPar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6" name="Text 4"/>
          <p:cNvSpPr/>
          <p:nvPr/>
        </p:nvSpPr>
        <p:spPr>
          <a:xfrm>
            <a:off x="336153" y="6330712"/>
            <a:ext cx="6485096" cy="844034"/>
          </a:xfrm>
          <a:prstGeom prst="rect">
            <a:avLst/>
          </a:prstGeom>
          <a:noFill/>
        </p:spPr>
        <p:txBody>
          <a:bodyPr wrap="square" lIns="0" tIns="0" rIns="0" bIns="0" rtlCol="0" anchor="t"/>
          <a:lstStyle/>
          <a:p>
            <a:pPr marL="342900" indent="-342900" algn="l">
              <a:lnSpc>
                <a:spcPts val="2200"/>
              </a:lnSpc>
              <a:buSzPct val="100000"/>
              <a:buChar char="•"/>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Ultimately, embracing data-driven insights empowers educational institutions to refine teaching strategies, personalise learning pathways, and foster a more supportive and effective learning environment for all students.</a:t>
            </a:r>
            <a:endPar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pic>
        <p:nvPicPr>
          <p:cNvPr id="7" name="Image 0" descr="preencoded.png"/>
          <p:cNvPicPr>
            <a:picLocks noChangeAspect="1"/>
          </p:cNvPicPr>
          <p:nvPr/>
        </p:nvPicPr>
        <p:blipFill>
          <a:blip r:embed="rId1"/>
          <a:stretch>
            <a:fillRect/>
          </a:stretch>
        </p:blipFill>
        <p:spPr>
          <a:xfrm>
            <a:off x="7537450" y="2044700"/>
            <a:ext cx="7092950" cy="64852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4068366"/>
          </a:xfrm>
          <a:prstGeom prst="rect">
            <a:avLst/>
          </a:prstGeom>
        </p:spPr>
      </p:pic>
      <p:sp>
        <p:nvSpPr>
          <p:cNvPr id="3" name="Text 0"/>
          <p:cNvSpPr/>
          <p:nvPr/>
        </p:nvSpPr>
        <p:spPr>
          <a:xfrm>
            <a:off x="759381" y="4665821"/>
            <a:ext cx="5424487" cy="678061"/>
          </a:xfrm>
          <a:prstGeom prst="rect">
            <a:avLst/>
          </a:prstGeom>
          <a:noFill/>
        </p:spPr>
        <p:txBody>
          <a:bodyPr wrap="none" lIns="0" tIns="0" rIns="0" bIns="0" rtlCol="0" anchor="t"/>
          <a:lstStyle/>
          <a:p>
            <a:pPr marL="0" indent="0" algn="l">
              <a:lnSpc>
                <a:spcPts val="5300"/>
              </a:lnSpc>
              <a:buNone/>
            </a:pPr>
            <a:r>
              <a:rPr lang="en-US" sz="4250" b="1" dirty="0">
                <a:solidFill>
                  <a:srgbClr val="0C0D0F"/>
                </a:solidFill>
                <a:latin typeface="Hubot Sans Bold" pitchFamily="34" charset="0"/>
                <a:ea typeface="Hubot Sans Bold" pitchFamily="34" charset="-122"/>
                <a:cs typeface="Hubot Sans Bold" pitchFamily="34" charset="-120"/>
              </a:rPr>
              <a:t>REFERENCES</a:t>
            </a:r>
            <a:endParaRPr lang="en-US" sz="4250" dirty="0"/>
          </a:p>
        </p:txBody>
      </p:sp>
      <p:sp>
        <p:nvSpPr>
          <p:cNvPr id="4" name="Text 1"/>
          <p:cNvSpPr/>
          <p:nvPr/>
        </p:nvSpPr>
        <p:spPr>
          <a:xfrm>
            <a:off x="759381" y="5669280"/>
            <a:ext cx="13111639" cy="347067"/>
          </a:xfrm>
          <a:prstGeom prst="rect">
            <a:avLst/>
          </a:prstGeom>
          <a:noFill/>
        </p:spPr>
        <p:txBody>
          <a:bodyPr wrap="non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Kaggle Student Performance Dataset:</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a:t>
            </a:r>
            <a:r>
              <a:rPr lang="en-US" sz="1700" u="sng" dirty="0">
                <a:solidFill>
                  <a:srgbClr val="1E1E1A"/>
                </a:solidFill>
                <a:latin typeface="Roboto Condensed" panose="02000000000000000000" pitchFamily="34" charset="0"/>
                <a:ea typeface="Roboto Condensed" panose="02000000000000000000" pitchFamily="34" charset="-122"/>
                <a:cs typeface="Roboto Condensed" panose="02000000000000000000" pitchFamily="34" charset="-120"/>
              </a:rPr>
              <a:t>https://www.kaggle.com/code/znielsen/analysis-and-prediction-of-student-performance</a:t>
            </a:r>
            <a:endParaRPr lang="en-US" sz="1700" dirty="0"/>
          </a:p>
        </p:txBody>
      </p:sp>
      <p:sp>
        <p:nvSpPr>
          <p:cNvPr id="5" name="Text 2"/>
          <p:cNvSpPr/>
          <p:nvPr/>
        </p:nvSpPr>
        <p:spPr>
          <a:xfrm>
            <a:off x="759381" y="6167755"/>
            <a:ext cx="13111639" cy="347067"/>
          </a:xfrm>
          <a:prstGeom prst="rect">
            <a:avLst/>
          </a:prstGeom>
          <a:noFill/>
        </p:spPr>
        <p:txBody>
          <a:bodyPr wrap="none" lIns="0" tIns="0" rIns="0" bIns="0" rtlCol="0" anchor="t"/>
          <a:lstStyle/>
          <a:p>
            <a:pPr marL="0" indent="0" algn="l">
              <a:lnSpc>
                <a:spcPts val="2700"/>
              </a:lnSpc>
              <a:buSzPct val="100000"/>
              <a:buNone/>
            </a:pPr>
            <a:r>
              <a:rPr lang="en-US" b="1" dirty="0">
                <a:solidFill>
                  <a:srgbClr val="55575A"/>
                </a:solidFill>
                <a:latin typeface="Times New Roman" panose="02020603050405020304" charset="0"/>
                <a:ea typeface="Roboto Condensed" panose="02000000000000000000" pitchFamily="34" charset="-122"/>
                <a:cs typeface="Times New Roman" panose="02020603050405020304" charset="0"/>
              </a:rPr>
              <a:t>Python Pandas Documentation: </a:t>
            </a:r>
            <a:r>
              <a:rPr lang="en-US" b="1" u="sng" dirty="0">
                <a:solidFill>
                  <a:srgbClr val="1E1E1A"/>
                </a:solidFill>
                <a:latin typeface="Times New Roman" panose="02020603050405020304" charset="0"/>
                <a:ea typeface="Roboto Condensed" panose="02000000000000000000" pitchFamily="34" charset="-122"/>
                <a:cs typeface="Times New Roman" panose="02020603050405020304" charset="0"/>
              </a:rPr>
              <a:t>https://pandas.pydata.org</a:t>
            </a:r>
            <a:r>
              <a:rPr lang="en-US" sz="1700" u="sng" dirty="0">
                <a:solidFill>
                  <a:srgbClr val="1E1E1A"/>
                </a:solidFill>
                <a:latin typeface="Times New Roman" panose="02020603050405020304" charset="0"/>
                <a:ea typeface="Roboto Condensed" panose="02000000000000000000" pitchFamily="34" charset="-122"/>
                <a:cs typeface="Times New Roman" panose="02020603050405020304" charset="0"/>
              </a:rPr>
              <a:t>/</a:t>
            </a:r>
            <a:endParaRPr lang="en-US" sz="1700" dirty="0">
              <a:latin typeface="Times New Roman" panose="02020603050405020304" charset="0"/>
              <a:cs typeface="Times New Roman" panose="02020603050405020304" charset="0"/>
            </a:endParaRPr>
          </a:p>
        </p:txBody>
      </p:sp>
      <p:sp>
        <p:nvSpPr>
          <p:cNvPr id="6" name="Text 3"/>
          <p:cNvSpPr/>
          <p:nvPr/>
        </p:nvSpPr>
        <p:spPr>
          <a:xfrm>
            <a:off x="759381" y="6515100"/>
            <a:ext cx="13111639" cy="347067"/>
          </a:xfrm>
          <a:prstGeom prst="rect">
            <a:avLst/>
          </a:prstGeom>
          <a:noFill/>
        </p:spPr>
        <p:txBody>
          <a:bodyPr wrap="non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Matplotlib Documentation:</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a:t>
            </a:r>
            <a:r>
              <a:rPr lang="en-US" sz="1700" u="sng" dirty="0">
                <a:solidFill>
                  <a:srgbClr val="1E1E1A"/>
                </a:solidFill>
                <a:latin typeface="Roboto Condensed" panose="02000000000000000000" pitchFamily="34" charset="0"/>
                <a:ea typeface="Roboto Condensed" panose="02000000000000000000" pitchFamily="34" charset="-122"/>
                <a:cs typeface="Roboto Condensed" panose="02000000000000000000" pitchFamily="34" charset="-120"/>
              </a:rPr>
              <a:t>https://matplotlib.org/</a:t>
            </a:r>
            <a:endParaRPr lang="en-US" sz="1700" dirty="0"/>
          </a:p>
        </p:txBody>
      </p:sp>
      <p:sp>
        <p:nvSpPr>
          <p:cNvPr id="7" name="Text 4"/>
          <p:cNvSpPr/>
          <p:nvPr/>
        </p:nvSpPr>
        <p:spPr>
          <a:xfrm>
            <a:off x="759381" y="6938010"/>
            <a:ext cx="13111639" cy="694134"/>
          </a:xfrm>
          <a:prstGeom prst="rect">
            <a:avLst/>
          </a:prstGeom>
          <a:noFill/>
        </p:spPr>
        <p:txBody>
          <a:bodyPr wrap="squar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Analytics Vidhya Guide on Student Performance Analysis:</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https://www.analyticsvidhya.com/blog/2023/04/student-performance-analysis-and-prediction</a:t>
            </a:r>
            <a:endParaRPr lang="en-US" sz="1700"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19944" y="1055132"/>
            <a:ext cx="5239583" cy="654963"/>
          </a:xfrm>
          <a:prstGeom prst="rect">
            <a:avLst/>
          </a:prstGeom>
          <a:noFill/>
        </p:spPr>
        <p:txBody>
          <a:bodyPr wrap="none" lIns="0" tIns="0" rIns="0" bIns="0" rtlCol="0" anchor="t"/>
          <a:lstStyle/>
          <a:p>
            <a:pPr marL="0" indent="0" algn="l">
              <a:lnSpc>
                <a:spcPts val="5150"/>
              </a:lnSpc>
              <a:buNone/>
            </a:pPr>
            <a:r>
              <a:rPr lang="en-US" sz="4100" b="1" dirty="0">
                <a:solidFill>
                  <a:srgbClr val="0C0D0F"/>
                </a:solidFill>
                <a:latin typeface="Hubot Sans Bold" pitchFamily="34" charset="0"/>
                <a:ea typeface="Hubot Sans Bold" pitchFamily="34" charset="-122"/>
                <a:cs typeface="Hubot Sans Bold" pitchFamily="34" charset="-120"/>
              </a:rPr>
              <a:t>THANK YOU</a:t>
            </a:r>
            <a:endParaRPr lang="en-US" sz="4100" dirty="0"/>
          </a:p>
        </p:txBody>
      </p:sp>
      <p:sp>
        <p:nvSpPr>
          <p:cNvPr id="4" name="Text 1"/>
          <p:cNvSpPr/>
          <p:nvPr/>
        </p:nvSpPr>
        <p:spPr>
          <a:xfrm>
            <a:off x="6219944" y="2024420"/>
            <a:ext cx="7676912" cy="3929420"/>
          </a:xfrm>
          <a:prstGeom prst="rect">
            <a:avLst/>
          </a:prstGeom>
          <a:noFill/>
        </p:spPr>
        <p:txBody>
          <a:bodyPr wrap="square" lIns="0" tIns="0" rIns="0" bIns="0" rtlCol="0" anchor="t"/>
          <a:lstStyle/>
          <a:p>
            <a:pPr marL="0" indent="0" algn="l">
              <a:lnSpc>
                <a:spcPts val="10300"/>
              </a:lnSpc>
              <a:buNone/>
            </a:pPr>
            <a:r>
              <a:rPr lang="en-US" sz="8250" b="1" dirty="0">
                <a:solidFill>
                  <a:srgbClr val="0C0D0F"/>
                </a:solidFill>
                <a:latin typeface="Hubot Sans Bold" pitchFamily="34" charset="0"/>
                <a:ea typeface="Hubot Sans Bold" pitchFamily="34" charset="-122"/>
                <a:cs typeface="Hubot Sans Bold" pitchFamily="34" charset="-120"/>
              </a:rPr>
              <a:t>QUESTIONS &amp; DISCUSSION</a:t>
            </a:r>
            <a:endParaRPr lang="en-US" sz="8250" dirty="0"/>
          </a:p>
        </p:txBody>
      </p:sp>
      <p:sp>
        <p:nvSpPr>
          <p:cNvPr id="5" name="Text 2"/>
          <p:cNvSpPr/>
          <p:nvPr/>
        </p:nvSpPr>
        <p:spPr>
          <a:xfrm>
            <a:off x="6219944" y="6268164"/>
            <a:ext cx="7676912" cy="335280"/>
          </a:xfrm>
          <a:prstGeom prst="rect">
            <a:avLst/>
          </a:prstGeom>
          <a:noFill/>
        </p:spPr>
        <p:txBody>
          <a:bodyPr wrap="none" lIns="0" tIns="0" rIns="0" bIns="0" rtlCol="0" anchor="t"/>
          <a:lstStyle/>
          <a:p>
            <a:pPr marL="0" indent="0" algn="l">
              <a:lnSpc>
                <a:spcPts val="2600"/>
              </a:lnSpc>
              <a:buNone/>
            </a:pPr>
            <a:r>
              <a:rPr lang="en-US" sz="165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We welcome your questions and any further discussion on this analysis.</a:t>
            </a:r>
            <a:endParaRPr lang="en-US" sz="1650" dirty="0"/>
          </a:p>
        </p:txBody>
      </p:sp>
      <p:sp>
        <p:nvSpPr>
          <p:cNvPr id="6" name="Text 3"/>
          <p:cNvSpPr/>
          <p:nvPr/>
        </p:nvSpPr>
        <p:spPr>
          <a:xfrm>
            <a:off x="6219944" y="6839188"/>
            <a:ext cx="7676912" cy="335280"/>
          </a:xfrm>
          <a:prstGeom prst="rect">
            <a:avLst/>
          </a:prstGeom>
          <a:noFill/>
        </p:spPr>
        <p:txBody>
          <a:bodyPr wrap="none" lIns="0" tIns="0" rIns="0" bIns="0" rtlCol="0" anchor="t"/>
          <a:lstStyle/>
          <a:p>
            <a:pPr marL="0" indent="0" algn="l">
              <a:lnSpc>
                <a:spcPts val="2600"/>
              </a:lnSpc>
              <a:buNone/>
            </a:pPr>
            <a:r>
              <a:rPr lang="en-US" sz="165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Contact:</a:t>
            </a:r>
            <a:r>
              <a:rPr lang="en-US" sz="165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saba.zaman.waada@gmail.com</a:t>
            </a:r>
            <a:endParaRPr lang="en-US" sz="1650"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p>
            <a:endParaRPr lang="en-US"/>
          </a:p>
        </p:txBody>
      </p:sp>
    </p:spTree>
  </p:cSld>
  <p:clrMapOvr>
    <a:masterClrMapping/>
  </p:clrMapOvr>
</p:sld>
</file>

<file path=ppt/tags/tag1.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3.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4.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5.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6.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7.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8.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9.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0.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1.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2.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3.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4.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5.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6.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7.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8.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19.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0.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1.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2.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3.xml><?xml version="1.0" encoding="utf-8"?>
<p:tagLst xmlns:p="http://schemas.openxmlformats.org/presentationml/2006/main">
  <p:tag name="KSO_WM_DIAGRAM_VIRTUALLY_FRAME" val="{&quot;height&quot;:512.356220472441,&quot;left&quot;:38.89685039370079,&quot;top&quot;:117.69377952755906,&quot;width&quot;:642.2062204724409}"/>
</p:tagLst>
</file>

<file path=ppt/tags/tag24.xml><?xml version="1.0" encoding="utf-8"?>
<p:tagLst xmlns:p="http://schemas.openxmlformats.org/presentationml/2006/main">
  <p:tag name="KSO_WM_DIAGRAM_VIRTUALLY_FRAME" val="{&quot;height&quot;:512.356220472441,&quot;left&quot;:38.89685039370079,&quot;top&quot;:117.69377952755906,&quot;width&quot;:642.206220472440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5413</Words>
  <Application>WPS Presentation</Application>
  <PresentationFormat>On-screen Show (16:9)</PresentationFormat>
  <Paragraphs>130</Paragraphs>
  <Slides>10</Slides>
  <Notes>11</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10</vt:i4>
      </vt:variant>
    </vt:vector>
  </HeadingPairs>
  <TitlesOfParts>
    <vt:vector size="37" baseType="lpstr">
      <vt:lpstr>Arial</vt:lpstr>
      <vt:lpstr>SimSun</vt:lpstr>
      <vt:lpstr>Wingdings</vt:lpstr>
      <vt:lpstr>Hubot Sans Bold</vt:lpstr>
      <vt:lpstr>Segoe Print</vt:lpstr>
      <vt:lpstr>Hubot Sans Bold</vt:lpstr>
      <vt:lpstr>Hubot Sans Bold</vt:lpstr>
      <vt:lpstr>Roboto Condensed</vt:lpstr>
      <vt:lpstr>Roboto Condensed</vt:lpstr>
      <vt:lpstr>Roboto Condensed</vt:lpstr>
      <vt:lpstr>Calibri</vt:lpstr>
      <vt:lpstr>Microsoft YaHei</vt:lpstr>
      <vt:lpstr>Arial Unicode MS</vt:lpstr>
      <vt:lpstr>Nobile</vt:lpstr>
      <vt:lpstr>Yu Gothic UI</vt:lpstr>
      <vt:lpstr>Nobile</vt:lpstr>
      <vt:lpstr>Nobile</vt:lpstr>
      <vt:lpstr>Times New Roman</vt:lpstr>
      <vt:lpstr>MingLiU-ExtB</vt:lpstr>
      <vt:lpstr>PMingLiU-ExtB</vt:lpstr>
      <vt:lpstr>Calibri Light</vt:lpstr>
      <vt:lpstr>Century Gothic</vt:lpstr>
      <vt:lpstr>Centaur</vt:lpstr>
      <vt:lpstr>Agency FB</vt:lpstr>
      <vt:lpstr>Leelawadee UI Semilight</vt:lpstr>
      <vt:lpstr>Tahoma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786</cp:lastModifiedBy>
  <cp:revision>2</cp:revision>
  <dcterms:created xsi:type="dcterms:W3CDTF">2025-12-26T08:44:00Z</dcterms:created>
  <dcterms:modified xsi:type="dcterms:W3CDTF">2025-12-26T11:14:32Z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FEEFE14A0B954D4385350CDA250BEF6E_13</vt:lpwstr>
  </property>
  <property fmtid="{D5CDD505-2E9C-101B-9397-08002B2CF9AE}" pid="3" name="KSOProductBuildVer">
    <vt:lpwstr>1033-12.2.0.23196</vt:lpwstr>
  </property>
</Properties>
</file>