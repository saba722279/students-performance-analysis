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4" r:id="rId8"/>
    <p:sldId id="265" r:id="rId9"/>
    <p:sldId id="266" r:id="rId10"/>
  </p:sldIdLst>
  <p:sldSz cx="14630400" cy="8229600"/>
  <p:notesSz cx="8229600" cy="14630400"/>
  <p:embeddedFontLst>
    <p:embeddedFont>
      <p:font typeface="Nobile" panose="020B0604020202020204" charset="0"/>
      <p:bold r:id="rId12"/>
    </p:embeddedFont>
    <p:embeddedFont>
      <p:font typeface="Calibri" panose="020F0502020204030204" pitchFamily="34" charset="0"/>
      <p:regular r:id="rId13"/>
      <p:bold r:id="rId14"/>
      <p:italic r:id="rId15"/>
      <p:boldItalic r:id="rId16"/>
    </p:embeddedFont>
    <p:embeddedFont>
      <p:font typeface="Roboto Condensed" panose="020B0604020202020204" charset="0"/>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6" d="100"/>
          <a:sy n="56" d="100"/>
        </p:scale>
        <p:origin x="-584" y="-76"/>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3934669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p:spPr>
      </p:sp>
      <p:sp>
        <p:nvSpPr>
          <p:cNvPr id="3" name="Shape 1"/>
          <p:cNvSpPr/>
          <p:nvPr/>
        </p:nvSpPr>
        <p:spPr>
          <a:xfrm>
            <a:off x="0" y="0"/>
            <a:ext cx="14630400" cy="8229600"/>
          </a:xfrm>
          <a:prstGeom prst="rect">
            <a:avLst/>
          </a:prstGeom>
          <a:solidFill>
            <a:srgbClr val="E8E8E3"/>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963400" y="0"/>
            <a:ext cx="5486400" cy="8229600"/>
          </a:xfrm>
          <a:prstGeom prst="rect">
            <a:avLst/>
          </a:prstGeom>
        </p:spPr>
      </p:pic>
      <p:sp>
        <p:nvSpPr>
          <p:cNvPr id="3" name="Text 0"/>
          <p:cNvSpPr/>
          <p:nvPr/>
        </p:nvSpPr>
        <p:spPr>
          <a:xfrm>
            <a:off x="95250" y="583565"/>
            <a:ext cx="4847590" cy="2876550"/>
          </a:xfrm>
          <a:prstGeom prst="rect">
            <a:avLst/>
          </a:prstGeom>
          <a:noFill/>
        </p:spPr>
        <p:txBody>
          <a:bodyPr wrap="none" lIns="0" tIns="0" rIns="0" bIns="0" rtlCol="0" anchor="t"/>
          <a:lstStyle/>
          <a:p>
            <a:pPr marL="0" indent="0" algn="l">
              <a:lnSpc>
                <a:spcPts val="3300"/>
              </a:lnSpc>
              <a:buNone/>
            </a:pPr>
            <a:endParaRPr lang="en-US" sz="3600" dirty="0"/>
          </a:p>
        </p:txBody>
      </p:sp>
      <p:sp>
        <p:nvSpPr>
          <p:cNvPr id="5" name="Text Box 4"/>
          <p:cNvSpPr txBox="1"/>
          <p:nvPr/>
        </p:nvSpPr>
        <p:spPr>
          <a:xfrm>
            <a:off x="241935" y="7035800"/>
            <a:ext cx="8902065" cy="456565"/>
          </a:xfrm>
          <a:prstGeom prst="rect">
            <a:avLst/>
          </a:prstGeom>
          <a:noFill/>
        </p:spPr>
        <p:txBody>
          <a:bodyPr wrap="square" rtlCol="0">
            <a:spAutoFit/>
          </a:bodyPr>
          <a:lstStyle/>
          <a:p>
            <a:pPr marL="0" indent="0" algn="l">
              <a:lnSpc>
                <a:spcPts val="2850"/>
              </a:lnSpc>
              <a:buNone/>
            </a:pPr>
            <a:r>
              <a:rPr lang="en-US" sz="2400" b="1" dirty="0">
                <a:solidFill>
                  <a:srgbClr val="405449"/>
                </a:solidFill>
                <a:latin typeface="Times New Roman" panose="02020603050405020304" charset="0"/>
                <a:ea typeface="Nobile" panose="02000503050000020004" pitchFamily="34" charset="-122"/>
                <a:cs typeface="Times New Roman" panose="02020603050405020304" charset="0"/>
                <a:sym typeface="+mn-ea"/>
              </a:rPr>
              <a:t>Federal Urdu University of Arts, Science &amp; Technology, Islamabad</a:t>
            </a:r>
            <a:endParaRPr lang="en-US" altLang="en-US" sz="2400" b="1">
              <a:latin typeface="Times New Roman" panose="02020603050405020304" charset="0"/>
              <a:cs typeface="Times New Roman" panose="02020603050405020304" charset="0"/>
            </a:endParaRPr>
          </a:p>
        </p:txBody>
      </p:sp>
      <p:sp>
        <p:nvSpPr>
          <p:cNvPr id="6" name="Text Box 5"/>
          <p:cNvSpPr txBox="1"/>
          <p:nvPr/>
        </p:nvSpPr>
        <p:spPr>
          <a:xfrm>
            <a:off x="95250" y="1113155"/>
            <a:ext cx="7644765" cy="2692400"/>
          </a:xfrm>
          <a:prstGeom prst="rect">
            <a:avLst/>
          </a:prstGeom>
          <a:noFill/>
        </p:spPr>
        <p:txBody>
          <a:bodyPr wrap="square" rtlCol="0">
            <a:noAutofit/>
          </a:bodyPr>
          <a:lstStyle/>
          <a:p>
            <a:pPr marL="0" indent="0" algn="l">
              <a:lnSpc>
                <a:spcPts val="3300"/>
              </a:lnSpc>
              <a:buNone/>
            </a:pPr>
            <a:r>
              <a:rPr lang="en-US" sz="4400" b="1" dirty="0">
                <a:solidFill>
                  <a:srgbClr val="0C0D0F"/>
                </a:solidFill>
                <a:latin typeface="Times New Roman" panose="02020603050405020304" charset="0"/>
                <a:ea typeface="Hubot Sans Bold" pitchFamily="34" charset="-122"/>
                <a:cs typeface="Times New Roman" panose="02020603050405020304" charset="0"/>
                <a:sym typeface="+mn-ea"/>
              </a:rPr>
              <a:t>ANALYSIS OF STUDENTS</a:t>
            </a:r>
          </a:p>
          <a:p>
            <a:pPr marL="0" indent="0" algn="l">
              <a:lnSpc>
                <a:spcPts val="3300"/>
              </a:lnSpc>
              <a:buNone/>
            </a:pPr>
            <a:endParaRPr lang="en-US" sz="4400" b="1" dirty="0">
              <a:solidFill>
                <a:srgbClr val="0C0D0F"/>
              </a:solidFill>
              <a:latin typeface="Times New Roman" panose="02020603050405020304" charset="0"/>
              <a:ea typeface="Hubot Sans Bold" pitchFamily="34" charset="-122"/>
              <a:cs typeface="Times New Roman" panose="02020603050405020304" charset="0"/>
              <a:sym typeface="+mn-ea"/>
            </a:endParaRPr>
          </a:p>
          <a:p>
            <a:pPr marL="0" indent="0" algn="l">
              <a:lnSpc>
                <a:spcPts val="3300"/>
              </a:lnSpc>
              <a:buNone/>
            </a:pPr>
            <a:r>
              <a:rPr lang="en-US" sz="4400" b="1" dirty="0">
                <a:solidFill>
                  <a:srgbClr val="0C0D0F"/>
                </a:solidFill>
                <a:latin typeface="Times New Roman" panose="02020603050405020304" charset="0"/>
                <a:ea typeface="Hubot Sans Bold" pitchFamily="34" charset="-122"/>
                <a:cs typeface="Times New Roman" panose="02020603050405020304" charset="0"/>
                <a:sym typeface="+mn-ea"/>
              </a:rPr>
              <a:t>PERFORMANCE USING</a:t>
            </a:r>
          </a:p>
          <a:p>
            <a:pPr marL="0" indent="0" algn="l">
              <a:lnSpc>
                <a:spcPts val="3300"/>
              </a:lnSpc>
              <a:buNone/>
            </a:pPr>
            <a:endParaRPr lang="en-US" sz="4400" b="1" dirty="0">
              <a:solidFill>
                <a:srgbClr val="0C0D0F"/>
              </a:solidFill>
              <a:latin typeface="Times New Roman" panose="02020603050405020304" charset="0"/>
              <a:ea typeface="Hubot Sans Bold" pitchFamily="34" charset="-122"/>
              <a:cs typeface="Times New Roman" panose="02020603050405020304" charset="0"/>
              <a:sym typeface="+mn-ea"/>
            </a:endParaRPr>
          </a:p>
          <a:p>
            <a:pPr marL="0" indent="0" algn="l">
              <a:lnSpc>
                <a:spcPts val="3300"/>
              </a:lnSpc>
              <a:buNone/>
            </a:pPr>
            <a:r>
              <a:rPr lang="en-US" sz="4400" b="1" dirty="0">
                <a:solidFill>
                  <a:srgbClr val="0C0D0F"/>
                </a:solidFill>
                <a:latin typeface="Times New Roman" panose="02020603050405020304" charset="0"/>
                <a:ea typeface="Hubot Sans Bold" pitchFamily="34" charset="-122"/>
                <a:cs typeface="Times New Roman" panose="02020603050405020304" charset="0"/>
                <a:sym typeface="+mn-ea"/>
              </a:rPr>
              <a:t> PYTHON</a:t>
            </a:r>
            <a:endParaRPr lang="en-US" sz="4400" b="1" dirty="0">
              <a:latin typeface="Times New Roman" panose="02020603050405020304" charset="0"/>
              <a:cs typeface="Times New Roman" panose="02020603050405020304" charset="0"/>
            </a:endParaRPr>
          </a:p>
          <a:p>
            <a:pPr marL="0" indent="0" algn="l">
              <a:lnSpc>
                <a:spcPts val="3300"/>
              </a:lnSpc>
              <a:buNone/>
            </a:pPr>
            <a:endParaRPr lang="en-US" sz="4400" b="1" dirty="0">
              <a:latin typeface="Times New Roman" panose="02020603050405020304" charset="0"/>
              <a:cs typeface="Times New Roman" panose="02020603050405020304" charset="0"/>
            </a:endParaRPr>
          </a:p>
        </p:txBody>
      </p:sp>
      <p:sp>
        <p:nvSpPr>
          <p:cNvPr id="7" name="Text Box 6"/>
          <p:cNvSpPr txBox="1"/>
          <p:nvPr/>
        </p:nvSpPr>
        <p:spPr>
          <a:xfrm>
            <a:off x="7315200" y="927735"/>
            <a:ext cx="4419600" cy="4620895"/>
          </a:xfrm>
          <a:prstGeom prst="rect">
            <a:avLst/>
          </a:prstGeom>
          <a:noFill/>
        </p:spPr>
        <p:txBody>
          <a:bodyPr wrap="square" rtlCol="0">
            <a:noAutofit/>
          </a:bodyPr>
          <a:lstStyle/>
          <a:p>
            <a:pPr marL="0" indent="0" algn="l">
              <a:lnSpc>
                <a:spcPts val="3300"/>
              </a:lnSpc>
              <a:buNone/>
            </a:pPr>
            <a:endParaRPr lang="en-US"/>
          </a:p>
        </p:txBody>
      </p:sp>
      <p:pic>
        <p:nvPicPr>
          <p:cNvPr id="10" name="Picture 9" descr="Picture1"/>
          <p:cNvPicPr>
            <a:picLocks noChangeAspect="1"/>
          </p:cNvPicPr>
          <p:nvPr/>
        </p:nvPicPr>
        <p:blipFill>
          <a:blip r:embed="rId4"/>
          <a:stretch>
            <a:fillRect/>
          </a:stretch>
        </p:blipFill>
        <p:spPr>
          <a:xfrm>
            <a:off x="7167245" y="774065"/>
            <a:ext cx="4415155" cy="4928870"/>
          </a:xfrm>
          <a:prstGeom prst="rect">
            <a:avLst/>
          </a:prstGeom>
        </p:spPr>
      </p:pic>
      <p:sp>
        <p:nvSpPr>
          <p:cNvPr id="8" name="Text Box 7"/>
          <p:cNvSpPr txBox="1"/>
          <p:nvPr/>
        </p:nvSpPr>
        <p:spPr>
          <a:xfrm>
            <a:off x="381000" y="4229100"/>
            <a:ext cx="4876800" cy="829945"/>
          </a:xfrm>
          <a:prstGeom prst="rect">
            <a:avLst/>
          </a:prstGeom>
          <a:noFill/>
        </p:spPr>
        <p:txBody>
          <a:bodyPr wrap="square" rtlCol="0">
            <a:spAutoFit/>
          </a:bodyPr>
          <a:lstStyle/>
          <a:p>
            <a:r>
              <a:rPr lang="en-US" sz="2400" b="1" dirty="0">
                <a:solidFill>
                  <a:srgbClr val="405449"/>
                </a:solidFill>
                <a:latin typeface="Times New Roman" panose="02020603050405020304" charset="0"/>
                <a:ea typeface="Nobile" panose="02000503050000020004" pitchFamily="34" charset="-122"/>
                <a:cs typeface="Times New Roman" panose="02020603050405020304" charset="0"/>
                <a:sym typeface="+mn-ea"/>
              </a:rPr>
              <a:t>Presented By: Saba Zaman</a:t>
            </a:r>
            <a:endParaRPr lang="en-US" sz="2400" b="1" dirty="0">
              <a:latin typeface="Times New Roman" panose="02020603050405020304" charset="0"/>
              <a:cs typeface="Times New Roman" panose="02020603050405020304" charset="0"/>
            </a:endParaRPr>
          </a:p>
          <a:p>
            <a:endParaRPr lang="en-US" sz="2400" b="1">
              <a:latin typeface="Times New Roman" panose="02020603050405020304" charset="0"/>
              <a:cs typeface="Times New Roman" panose="02020603050405020304" charset="0"/>
            </a:endParaRPr>
          </a:p>
        </p:txBody>
      </p:sp>
      <p:sp>
        <p:nvSpPr>
          <p:cNvPr id="9" name="Text Box 8"/>
          <p:cNvSpPr txBox="1"/>
          <p:nvPr/>
        </p:nvSpPr>
        <p:spPr>
          <a:xfrm>
            <a:off x="241935" y="5297805"/>
            <a:ext cx="4876800" cy="460375"/>
          </a:xfrm>
          <a:prstGeom prst="rect">
            <a:avLst/>
          </a:prstGeom>
          <a:noFill/>
        </p:spPr>
        <p:txBody>
          <a:bodyPr wrap="square" rtlCol="0">
            <a:spAutoFit/>
          </a:bodyPr>
          <a:lstStyle/>
          <a:p>
            <a:r>
              <a:rPr lang="en-US" sz="2400" b="1" dirty="0">
                <a:solidFill>
                  <a:srgbClr val="405449"/>
                </a:solidFill>
                <a:latin typeface="Times New Roman" panose="02020603050405020304" charset="0"/>
                <a:ea typeface="Nobile" panose="02000503050000020004" pitchFamily="34" charset="-122"/>
                <a:cs typeface="Times New Roman" panose="02020603050405020304" charset="0"/>
                <a:sym typeface="+mn-ea"/>
              </a:rPr>
              <a:t>Supervisor: Ma’am Hina Javed</a:t>
            </a:r>
            <a:endParaRPr lang="en-US" sz="2400" b="1">
              <a:latin typeface="Times New Roman" panose="02020603050405020304" charset="0"/>
              <a:cs typeface="Times New Roman" panose="02020603050405020304" charset="0"/>
            </a:endParaRPr>
          </a:p>
        </p:txBody>
      </p:sp>
      <p:sp>
        <p:nvSpPr>
          <p:cNvPr id="11" name="Text Box 10"/>
          <p:cNvSpPr txBox="1"/>
          <p:nvPr/>
        </p:nvSpPr>
        <p:spPr>
          <a:xfrm>
            <a:off x="381000" y="6125845"/>
            <a:ext cx="6388100" cy="829945"/>
          </a:xfrm>
          <a:prstGeom prst="rect">
            <a:avLst/>
          </a:prstGeom>
          <a:noFill/>
        </p:spPr>
        <p:txBody>
          <a:bodyPr wrap="square" rtlCol="0">
            <a:spAutoFit/>
          </a:bodyPr>
          <a:lstStyle/>
          <a:p>
            <a:r>
              <a:rPr lang="en-US" sz="2400" b="1" dirty="0">
                <a:solidFill>
                  <a:srgbClr val="405449"/>
                </a:solidFill>
                <a:latin typeface="Times New Roman" panose="02020603050405020304" charset="0"/>
                <a:ea typeface="Nobile" panose="02000503050000020004" pitchFamily="34" charset="-122"/>
                <a:cs typeface="Times New Roman" panose="02020603050405020304" charset="0"/>
                <a:sym typeface="+mn-ea"/>
              </a:rPr>
              <a:t>BSCS 7th A | Department of Computer Science</a:t>
            </a:r>
            <a:endParaRPr lang="en-US" sz="2400" b="1" dirty="0">
              <a:latin typeface="Times New Roman" panose="02020603050405020304" charset="0"/>
              <a:cs typeface="Times New Roman" panose="02020603050405020304" charset="0"/>
            </a:endParaRPr>
          </a:p>
          <a:p>
            <a:endParaRPr lang="en-US" sz="24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ext 0"/>
          <p:cNvSpPr/>
          <p:nvPr/>
        </p:nvSpPr>
        <p:spPr>
          <a:xfrm>
            <a:off x="793790" y="1523524"/>
            <a:ext cx="5670590" cy="708779"/>
          </a:xfrm>
          <a:prstGeom prst="rect">
            <a:avLst/>
          </a:prstGeom>
          <a:noFill/>
        </p:spPr>
        <p:txBody>
          <a:bodyPr wrap="none" lIns="0" tIns="0" rIns="0" bIns="0" rtlCol="0" anchor="t"/>
          <a:lstStyle/>
          <a:p>
            <a:pPr marL="0" indent="0" algn="l">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ABSTRACT</a:t>
            </a:r>
            <a:endParaRPr lang="en-US" sz="4450" dirty="0"/>
          </a:p>
        </p:txBody>
      </p:sp>
      <p:sp>
        <p:nvSpPr>
          <p:cNvPr id="6" name="Text 3"/>
          <p:cNvSpPr/>
          <p:nvPr/>
        </p:nvSpPr>
        <p:spPr>
          <a:xfrm>
            <a:off x="1020604" y="3820001"/>
            <a:ext cx="3742730" cy="708660"/>
          </a:xfrm>
          <a:prstGeom prst="rect">
            <a:avLst/>
          </a:prstGeom>
          <a:noFill/>
        </p:spPr>
        <p:txBody>
          <a:bodyPr wrap="square" lIns="0" tIns="0" rIns="0" bIns="0" rtlCol="0" anchor="t"/>
          <a:lstStyle/>
          <a:p>
            <a:pPr marL="0" indent="0" algn="l">
              <a:lnSpc>
                <a:spcPts val="2750"/>
              </a:lnSpc>
              <a:buNone/>
            </a:pPr>
            <a:endParaRPr lang="en-US" sz="2200" dirty="0"/>
          </a:p>
        </p:txBody>
      </p:sp>
      <p:sp>
        <p:nvSpPr>
          <p:cNvPr id="7" name="Text 4"/>
          <p:cNvSpPr/>
          <p:nvPr/>
        </p:nvSpPr>
        <p:spPr>
          <a:xfrm>
            <a:off x="1020604" y="4664750"/>
            <a:ext cx="3742730" cy="1451610"/>
          </a:xfrm>
          <a:prstGeom prst="rect">
            <a:avLst/>
          </a:prstGeom>
          <a:noFill/>
        </p:spPr>
        <p:txBody>
          <a:bodyPr wrap="square" lIns="0" tIns="0" rIns="0" bIns="0" rtlCol="0" anchor="t"/>
          <a:lstStyle/>
          <a:p>
            <a:pPr marL="0" indent="0" algn="l">
              <a:lnSpc>
                <a:spcPts val="2850"/>
              </a:lnSpc>
              <a:buNone/>
            </a:pPr>
            <a:endParaRPr lang="en-US" sz="1750" dirty="0"/>
          </a:p>
        </p:txBody>
      </p:sp>
      <p:sp>
        <p:nvSpPr>
          <p:cNvPr id="11" name="Text 7"/>
          <p:cNvSpPr/>
          <p:nvPr/>
        </p:nvSpPr>
        <p:spPr>
          <a:xfrm>
            <a:off x="5443776" y="3820001"/>
            <a:ext cx="3742730" cy="708660"/>
          </a:xfrm>
          <a:prstGeom prst="rect">
            <a:avLst/>
          </a:prstGeom>
          <a:noFill/>
        </p:spPr>
        <p:txBody>
          <a:bodyPr wrap="square" lIns="0" tIns="0" rIns="0" bIns="0" rtlCol="0" anchor="t"/>
          <a:lstStyle/>
          <a:p>
            <a:pPr marL="0" indent="0" algn="l">
              <a:lnSpc>
                <a:spcPts val="2750"/>
              </a:lnSpc>
              <a:buNone/>
            </a:pPr>
            <a:endParaRPr lang="en-US" sz="2200" dirty="0"/>
          </a:p>
        </p:txBody>
      </p:sp>
      <p:sp>
        <p:nvSpPr>
          <p:cNvPr id="12" name="Text 8"/>
          <p:cNvSpPr/>
          <p:nvPr/>
        </p:nvSpPr>
        <p:spPr>
          <a:xfrm>
            <a:off x="5443776" y="4664750"/>
            <a:ext cx="3742730" cy="1814513"/>
          </a:xfrm>
          <a:prstGeom prst="rect">
            <a:avLst/>
          </a:prstGeom>
          <a:noFill/>
        </p:spPr>
        <p:txBody>
          <a:bodyPr wrap="square" lIns="0" tIns="0" rIns="0" bIns="0" rtlCol="0" anchor="t"/>
          <a:lstStyle/>
          <a:p>
            <a:pPr marL="0" indent="0" algn="l">
              <a:lnSpc>
                <a:spcPts val="2850"/>
              </a:lnSpc>
              <a:buNone/>
            </a:pPr>
            <a:endParaRPr lang="en-US" sz="1750" dirty="0"/>
          </a:p>
        </p:txBody>
      </p:sp>
      <p:sp>
        <p:nvSpPr>
          <p:cNvPr id="13" name="Shape 9"/>
          <p:cNvSpPr/>
          <p:nvPr/>
        </p:nvSpPr>
        <p:spPr>
          <a:xfrm>
            <a:off x="496710" y="2449689"/>
            <a:ext cx="13196711" cy="5000978"/>
          </a:xfrm>
          <a:prstGeom prst="roundRect">
            <a:avLst>
              <a:gd name="adj" fmla="val 846"/>
            </a:avLst>
          </a:prstGeom>
          <a:solidFill>
            <a:srgbClr val="D8D9D2"/>
          </a:solidFill>
        </p:spPr>
      </p:sp>
      <p:sp>
        <p:nvSpPr>
          <p:cNvPr id="16" name="Text 11"/>
          <p:cNvSpPr/>
          <p:nvPr/>
        </p:nvSpPr>
        <p:spPr>
          <a:xfrm>
            <a:off x="788892" y="2588058"/>
            <a:ext cx="12294930" cy="4301649"/>
          </a:xfrm>
          <a:prstGeom prst="rect">
            <a:avLst/>
          </a:prstGeom>
          <a:noFill/>
        </p:spPr>
        <p:txBody>
          <a:bodyPr wrap="square" lIns="0" tIns="0" rIns="0" bIns="0" rtlCol="0" anchor="t"/>
          <a:lstStyle/>
          <a:p>
            <a:pPr algn="just"/>
            <a:r>
              <a:rPr lang="en-US" sz="3200" dirty="0"/>
              <a:t>This project analyzes a dataset of student performance in Math, English, and Science</a:t>
            </a:r>
            <a:r>
              <a:rPr lang="en-US" sz="3200" dirty="0" smtClean="0"/>
              <a:t>.</a:t>
            </a:r>
          </a:p>
          <a:p>
            <a:pPr algn="just"/>
            <a:endParaRPr lang="en-US" sz="3200" dirty="0" smtClean="0"/>
          </a:p>
          <a:p>
            <a:pPr algn="just"/>
            <a:r>
              <a:rPr lang="en-US" sz="3200" dirty="0" smtClean="0"/>
              <a:t> </a:t>
            </a:r>
            <a:r>
              <a:rPr lang="en-US" sz="3200" dirty="0"/>
              <a:t>The goal is to understand the distribution of scores, identify any gender disparities, and provide actionable insights. </a:t>
            </a:r>
            <a:endParaRPr lang="en-US" sz="3200" dirty="0" smtClean="0"/>
          </a:p>
          <a:p>
            <a:pPr algn="just"/>
            <a:endParaRPr lang="en-US" sz="3200" dirty="0" smtClean="0"/>
          </a:p>
          <a:p>
            <a:pPr algn="just"/>
            <a:r>
              <a:rPr lang="en-US" sz="3200" dirty="0" smtClean="0"/>
              <a:t>The </a:t>
            </a:r>
            <a:r>
              <a:rPr lang="en-US" sz="3200" dirty="0"/>
              <a:t>analysis involves data acquisition, cleaning, statistical summarization, and visualization.</a:t>
            </a:r>
          </a:p>
        </p:txBody>
      </p:sp>
      <p:sp>
        <p:nvSpPr>
          <p:cNvPr id="17" name="Text 12"/>
          <p:cNvSpPr/>
          <p:nvPr/>
        </p:nvSpPr>
        <p:spPr>
          <a:xfrm>
            <a:off x="9866948" y="4664750"/>
            <a:ext cx="3742730" cy="1814513"/>
          </a:xfrm>
          <a:prstGeom prst="rect">
            <a:avLst/>
          </a:prstGeom>
          <a:noFill/>
        </p:spPr>
        <p:txBody>
          <a:bodyPr wrap="square" lIns="0" tIns="0" rIns="0" bIns="0" rtlCol="0" anchor="t"/>
          <a:lstStyle/>
          <a:p>
            <a:pPr marL="0" indent="0" algn="l">
              <a:lnSpc>
                <a:spcPts val="2850"/>
              </a:lnSpc>
              <a:buNone/>
            </a:pPr>
            <a:endParaRPr lang="en-US" sz="1750" dirty="0"/>
          </a:p>
        </p:txBody>
      </p:sp>
      <p:sp>
        <p:nvSpPr>
          <p:cNvPr id="20" name="Text Box 19"/>
          <p:cNvSpPr txBox="1"/>
          <p:nvPr/>
        </p:nvSpPr>
        <p:spPr>
          <a:xfrm>
            <a:off x="12077700" y="7563485"/>
            <a:ext cx="2552700" cy="558165"/>
          </a:xfrm>
          <a:prstGeom prst="rect">
            <a:avLst/>
          </a:prstGeom>
          <a:solidFill>
            <a:schemeClr val="bg2"/>
          </a:solidFill>
        </p:spPr>
        <p:txBody>
          <a:bodyPr wrap="square" rtlCol="0">
            <a:noAutofit/>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9257" y="565071"/>
            <a:ext cx="13191887" cy="1284208"/>
          </a:xfrm>
          <a:prstGeom prst="rect">
            <a:avLst/>
          </a:prstGeom>
          <a:noFill/>
        </p:spPr>
        <p:txBody>
          <a:bodyPr wrap="square" lIns="0" tIns="0" rIns="0" bIns="0" rtlCol="0" anchor="t"/>
          <a:lstStyle/>
          <a:p>
            <a:pPr marL="0" indent="0" algn="l">
              <a:lnSpc>
                <a:spcPts val="5050"/>
              </a:lnSpc>
              <a:buNone/>
            </a:pPr>
            <a:r>
              <a:rPr lang="en-US" sz="4000" b="1" dirty="0">
                <a:solidFill>
                  <a:srgbClr val="0C0D0F"/>
                </a:solidFill>
                <a:latin typeface="Hubot Sans Bold" pitchFamily="34" charset="0"/>
                <a:ea typeface="Hubot Sans Bold" pitchFamily="34" charset="-122"/>
                <a:cs typeface="Hubot Sans Bold" pitchFamily="34" charset="-120"/>
              </a:rPr>
              <a:t>INTRODUCTION: ELEVATING EDUCATIONAL QUALITY THROUGH DATA</a:t>
            </a:r>
            <a:endParaRPr lang="en-US" sz="4000" dirty="0"/>
          </a:p>
        </p:txBody>
      </p:sp>
      <p:sp>
        <p:nvSpPr>
          <p:cNvPr id="3" name="Text 1"/>
          <p:cNvSpPr/>
          <p:nvPr/>
        </p:nvSpPr>
        <p:spPr>
          <a:xfrm>
            <a:off x="719257" y="2342436"/>
            <a:ext cx="7029926" cy="1314926"/>
          </a:xfrm>
          <a:prstGeom prst="rect">
            <a:avLst/>
          </a:prstGeom>
          <a:noFill/>
        </p:spPr>
        <p:txBody>
          <a:bodyPr wrap="square" lIns="0" tIns="0" rIns="0" bIns="0" rtlCol="0" anchor="t"/>
          <a:lstStyle/>
          <a:p>
            <a:pPr marL="0" indent="0" algn="l">
              <a:lnSpc>
                <a:spcPts val="2550"/>
              </a:lnSpc>
              <a:buNone/>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Understanding student performance is fundamental to improving the quality of education. By systematically analysing academic results, we can pinpoint areas where students excel and, more importantly, identify subjects or topics that require additional support and intervention.</a:t>
            </a:r>
            <a:endParaRPr lang="en-US" sz="1600" dirty="0"/>
          </a:p>
        </p:txBody>
      </p:sp>
      <p:sp>
        <p:nvSpPr>
          <p:cNvPr id="4" name="Text 2"/>
          <p:cNvSpPr/>
          <p:nvPr/>
        </p:nvSpPr>
        <p:spPr>
          <a:xfrm>
            <a:off x="719257" y="3842266"/>
            <a:ext cx="7029926" cy="1314926"/>
          </a:xfrm>
          <a:prstGeom prst="rect">
            <a:avLst/>
          </a:prstGeom>
          <a:noFill/>
        </p:spPr>
        <p:txBody>
          <a:bodyPr wrap="square" lIns="0" tIns="0" rIns="0" bIns="0" rtlCol="0" anchor="t"/>
          <a:lstStyle/>
          <a:p>
            <a:pPr marL="0" indent="0" algn="l">
              <a:lnSpc>
                <a:spcPts val="2550"/>
              </a:lnSpc>
              <a:buNone/>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This report specifically focuses on student achievement in three foundational subjects: Mathematics, English Language, and Science. Each subject presents unique challenges and opportunities for learning, and a detailed examination of performance can inform targeted teaching strategies.</a:t>
            </a:r>
            <a:endParaRPr lang="en-US" sz="1600" dirty="0"/>
          </a:p>
        </p:txBody>
      </p:sp>
      <p:sp>
        <p:nvSpPr>
          <p:cNvPr id="5" name="Text 3"/>
          <p:cNvSpPr/>
          <p:nvPr/>
        </p:nvSpPr>
        <p:spPr>
          <a:xfrm>
            <a:off x="719257" y="5342096"/>
            <a:ext cx="7029926" cy="986195"/>
          </a:xfrm>
          <a:prstGeom prst="rect">
            <a:avLst/>
          </a:prstGeom>
          <a:noFill/>
        </p:spPr>
        <p:txBody>
          <a:bodyPr wrap="square" lIns="0" tIns="0" rIns="0" bIns="0" rtlCol="0" anchor="t"/>
          <a:lstStyle/>
          <a:p>
            <a:pPr marL="0" indent="0" algn="l">
              <a:lnSpc>
                <a:spcPts val="2550"/>
              </a:lnSpc>
              <a:buNone/>
            </a:pPr>
            <a:r>
              <a:rPr lang="en-US" sz="16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The use of Python programming proves invaluable in this endeavour, offering robust capabilities for data manipulation, statistical analysis, and compelling visualisations. This approach makes complex data analysis more accessible and impactful.</a:t>
            </a:r>
            <a:endParaRPr lang="en-US" sz="1600" dirty="0"/>
          </a:p>
        </p:txBody>
      </p:sp>
      <p:pic>
        <p:nvPicPr>
          <p:cNvPr id="6" name="Image 0" descr="preencoded.png"/>
          <p:cNvPicPr>
            <a:picLocks noChangeAspect="1"/>
          </p:cNvPicPr>
          <p:nvPr/>
        </p:nvPicPr>
        <p:blipFill>
          <a:blip r:embed="rId3"/>
          <a:stretch>
            <a:fillRect/>
          </a:stretch>
        </p:blipFill>
        <p:spPr>
          <a:xfrm>
            <a:off x="8258175" y="2388870"/>
            <a:ext cx="5660390" cy="5076190"/>
          </a:xfrm>
          <a:prstGeom prst="rect">
            <a:avLst/>
          </a:prstGeom>
        </p:spPr>
      </p:pic>
      <p:sp>
        <p:nvSpPr>
          <p:cNvPr id="20" name="Text Box 19"/>
          <p:cNvSpPr txBox="1"/>
          <p:nvPr/>
        </p:nvSpPr>
        <p:spPr>
          <a:xfrm>
            <a:off x="12077700" y="7550785"/>
            <a:ext cx="2552700" cy="558165"/>
          </a:xfrm>
          <a:prstGeom prst="rect">
            <a:avLst/>
          </a:prstGeom>
          <a:solidFill>
            <a:schemeClr val="bg2"/>
          </a:solidFill>
        </p:spPr>
        <p:txBody>
          <a:bodyPr wrap="square" rtlCol="0">
            <a:no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331200" y="0"/>
            <a:ext cx="6299200" cy="8229600"/>
          </a:xfrm>
          <a:prstGeom prst="rect">
            <a:avLst/>
          </a:prstGeom>
        </p:spPr>
      </p:pic>
      <p:sp>
        <p:nvSpPr>
          <p:cNvPr id="3" name="Text 0"/>
          <p:cNvSpPr/>
          <p:nvPr/>
        </p:nvSpPr>
        <p:spPr>
          <a:xfrm>
            <a:off x="583049" y="743307"/>
            <a:ext cx="6149102" cy="1041083"/>
          </a:xfrm>
          <a:prstGeom prst="rect">
            <a:avLst/>
          </a:prstGeom>
          <a:noFill/>
        </p:spPr>
        <p:txBody>
          <a:bodyPr wrap="square" lIns="0" tIns="0" rIns="0" bIns="0" rtlCol="0" anchor="t"/>
          <a:lstStyle/>
          <a:p>
            <a:pPr marL="0" indent="0" algn="l">
              <a:lnSpc>
                <a:spcPts val="4050"/>
              </a:lnSpc>
              <a:buNone/>
            </a:pPr>
            <a:r>
              <a:rPr lang="en-US" sz="3250" b="1" dirty="0">
                <a:solidFill>
                  <a:srgbClr val="0C0D0F"/>
                </a:solidFill>
                <a:latin typeface="Hubot Sans Bold" pitchFamily="34" charset="0"/>
                <a:ea typeface="Hubot Sans Bold" pitchFamily="34" charset="-122"/>
                <a:cs typeface="Hubot Sans Bold" pitchFamily="34" charset="-120"/>
              </a:rPr>
              <a:t>METHODOLOGY: A PYTHON-DRIVEN APPROACH</a:t>
            </a:r>
            <a:endParaRPr lang="en-US" sz="3250" i="1" dirty="0"/>
          </a:p>
        </p:txBody>
      </p:sp>
      <p:sp>
        <p:nvSpPr>
          <p:cNvPr id="5" name="Text 1"/>
          <p:cNvSpPr/>
          <p:nvPr/>
        </p:nvSpPr>
        <p:spPr>
          <a:xfrm>
            <a:off x="1249322" y="2177591"/>
            <a:ext cx="5636899" cy="5758498"/>
          </a:xfrm>
          <a:prstGeom prst="rect">
            <a:avLst/>
          </a:prstGeom>
          <a:noFill/>
        </p:spPr>
        <p:txBody>
          <a:bodyPr wrap="none" lIns="0" tIns="0" rIns="0" bIns="0" rtlCol="0" anchor="t"/>
          <a:lstStyle/>
          <a:p>
            <a:pPr marL="0" indent="0" algn="l">
              <a:lnSpc>
                <a:spcPts val="2000"/>
              </a:lnSpc>
              <a:buNone/>
            </a:pPr>
            <a:endParaRPr lang="en-US" sz="1600" dirty="0">
              <a:latin typeface="Roboto Condensed" panose="020B0604020202020204" charset="0"/>
              <a:ea typeface="Roboto Condensed" panose="020B0604020202020204" charset="0"/>
            </a:endParaRPr>
          </a:p>
        </p:txBody>
      </p:sp>
      <p:sp>
        <p:nvSpPr>
          <p:cNvPr id="6" name="Text 2"/>
          <p:cNvSpPr/>
          <p:nvPr/>
        </p:nvSpPr>
        <p:spPr>
          <a:xfrm>
            <a:off x="869244" y="1784390"/>
            <a:ext cx="5862907" cy="5880765"/>
          </a:xfrm>
          <a:prstGeom prst="rect">
            <a:avLst/>
          </a:prstGeom>
          <a:noFill/>
        </p:spPr>
        <p:txBody>
          <a:bodyPr wrap="square" lIns="0" tIns="0" rIns="0" bIns="0" rtlCol="0" anchor="t"/>
          <a:lstStyle/>
          <a:p>
            <a:endParaRPr lang="en-US" sz="1200" dirty="0">
              <a:latin typeface="Roboto Condensed" panose="020B0604020202020204" charset="0"/>
              <a:ea typeface="Roboto Condensed" panose="020B0604020202020204" charset="0"/>
            </a:endParaRPr>
          </a:p>
        </p:txBody>
      </p:sp>
      <p:sp>
        <p:nvSpPr>
          <p:cNvPr id="8" name="Text 3"/>
          <p:cNvSpPr/>
          <p:nvPr/>
        </p:nvSpPr>
        <p:spPr>
          <a:xfrm>
            <a:off x="1499116" y="3593544"/>
            <a:ext cx="3137059" cy="260271"/>
          </a:xfrm>
          <a:prstGeom prst="rect">
            <a:avLst/>
          </a:prstGeom>
          <a:noFill/>
        </p:spPr>
        <p:txBody>
          <a:bodyPr wrap="none" lIns="0" tIns="0" rIns="0" bIns="0" rtlCol="0" anchor="t"/>
          <a:lstStyle/>
          <a:p>
            <a:endParaRPr lang="en-US" sz="1600" dirty="0">
              <a:latin typeface="Roboto Condensed" panose="020B0604020202020204" charset="0"/>
              <a:ea typeface="Roboto Condensed" panose="020B0604020202020204" charset="0"/>
            </a:endParaRPr>
          </a:p>
        </p:txBody>
      </p:sp>
      <p:sp>
        <p:nvSpPr>
          <p:cNvPr id="10" name="Text 5"/>
          <p:cNvSpPr/>
          <p:nvPr/>
        </p:nvSpPr>
        <p:spPr>
          <a:xfrm>
            <a:off x="1499116" y="4320064"/>
            <a:ext cx="5233035" cy="266462"/>
          </a:xfrm>
          <a:prstGeom prst="rect">
            <a:avLst/>
          </a:prstGeom>
          <a:noFill/>
        </p:spPr>
        <p:txBody>
          <a:bodyPr wrap="none" lIns="0" tIns="0" rIns="0" bIns="0" rtlCol="0" anchor="t"/>
          <a:lstStyle/>
          <a:p>
            <a:pPr marL="0" indent="0" algn="l">
              <a:lnSpc>
                <a:spcPts val="2050"/>
              </a:lnSpc>
              <a:buSzPct val="100000"/>
              <a:buNone/>
            </a:pPr>
            <a:endParaRPr lang="en-US" sz="1300" dirty="0"/>
          </a:p>
        </p:txBody>
      </p:sp>
      <p:sp>
        <p:nvSpPr>
          <p:cNvPr id="11" name="Text 6"/>
          <p:cNvSpPr/>
          <p:nvPr/>
        </p:nvSpPr>
        <p:spPr>
          <a:xfrm>
            <a:off x="1363385" y="3853815"/>
            <a:ext cx="5233035" cy="1323856"/>
          </a:xfrm>
          <a:prstGeom prst="rect">
            <a:avLst/>
          </a:prstGeom>
          <a:noFill/>
        </p:spPr>
        <p:txBody>
          <a:bodyPr wrap="square" lIns="0" tIns="0" rIns="0" bIns="0" rtlCol="0" anchor="t"/>
          <a:lstStyle/>
          <a:p>
            <a:pPr marL="0" indent="0" algn="l">
              <a:lnSpc>
                <a:spcPts val="2050"/>
              </a:lnSpc>
              <a:buSzPct val="100000"/>
              <a:buNone/>
            </a:pPr>
            <a:r>
              <a:rPr lang="en-US" sz="1300" dirty="0" smtClean="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a:t>
            </a:r>
            <a:endParaRPr lang="en-US" sz="1300" dirty="0"/>
          </a:p>
        </p:txBody>
      </p:sp>
      <p:pic>
        <p:nvPicPr>
          <p:cNvPr id="12" name="Image 3" descr="preencoded.png"/>
          <p:cNvPicPr>
            <a:picLocks noChangeAspect="1"/>
          </p:cNvPicPr>
          <p:nvPr/>
        </p:nvPicPr>
        <p:blipFill>
          <a:blip r:embed="rId4"/>
          <a:stretch>
            <a:fillRect/>
          </a:stretch>
        </p:blipFill>
        <p:spPr>
          <a:xfrm>
            <a:off x="197465" y="2307726"/>
            <a:ext cx="499705" cy="5628363"/>
          </a:xfrm>
          <a:prstGeom prst="rect">
            <a:avLst/>
          </a:prstGeom>
        </p:spPr>
      </p:pic>
      <p:sp>
        <p:nvSpPr>
          <p:cNvPr id="13" name="Text 7"/>
          <p:cNvSpPr/>
          <p:nvPr/>
        </p:nvSpPr>
        <p:spPr>
          <a:xfrm>
            <a:off x="1749028" y="5677376"/>
            <a:ext cx="2567702" cy="260271"/>
          </a:xfrm>
          <a:prstGeom prst="rect">
            <a:avLst/>
          </a:prstGeom>
          <a:noFill/>
        </p:spPr>
        <p:txBody>
          <a:bodyPr wrap="none" lIns="0" tIns="0" rIns="0" bIns="0" rtlCol="0" anchor="t"/>
          <a:lstStyle/>
          <a:p>
            <a:pPr marL="0" indent="0" algn="l">
              <a:lnSpc>
                <a:spcPts val="2000"/>
              </a:lnSpc>
              <a:buNone/>
            </a:pPr>
            <a:endParaRPr lang="en-US" sz="1600" b="1" dirty="0" smtClean="0">
              <a:solidFill>
                <a:srgbClr val="55575A"/>
              </a:solidFill>
              <a:latin typeface="Hubot Sans Bold" pitchFamily="34" charset="0"/>
              <a:ea typeface="Hubot Sans Bold" pitchFamily="34" charset="-122"/>
              <a:cs typeface="Hubot Sans Bold" pitchFamily="34" charset="-120"/>
            </a:endParaRPr>
          </a:p>
        </p:txBody>
      </p:sp>
      <p:sp>
        <p:nvSpPr>
          <p:cNvPr id="15" name="Text 9"/>
          <p:cNvSpPr/>
          <p:nvPr/>
        </p:nvSpPr>
        <p:spPr>
          <a:xfrm>
            <a:off x="1749028" y="6403896"/>
            <a:ext cx="4983123" cy="266462"/>
          </a:xfrm>
          <a:prstGeom prst="rect">
            <a:avLst/>
          </a:prstGeom>
          <a:noFill/>
        </p:spPr>
        <p:txBody>
          <a:bodyPr wrap="none" lIns="0" tIns="0" rIns="0" bIns="0" rtlCol="0" anchor="t"/>
          <a:lstStyle/>
          <a:p>
            <a:pPr marL="342900" indent="-342900" algn="l">
              <a:lnSpc>
                <a:spcPts val="2050"/>
              </a:lnSpc>
              <a:buSzPct val="100000"/>
              <a:buFont typeface="+mj-lt"/>
              <a:buAutoNum type="arabicPeriod"/>
            </a:pPr>
            <a:endParaRPr lang="en-US" sz="1300" dirty="0" smtClean="0"/>
          </a:p>
          <a:p>
            <a:pPr marL="342900" indent="-342900" algn="l">
              <a:lnSpc>
                <a:spcPts val="2050"/>
              </a:lnSpc>
              <a:buSzPct val="100000"/>
              <a:buFont typeface="+mj-lt"/>
              <a:buAutoNum type="arabicPeriod"/>
            </a:pPr>
            <a:endParaRPr lang="en-US" sz="1300" dirty="0"/>
          </a:p>
          <a:p>
            <a:pPr marL="342900" indent="-342900" algn="l">
              <a:lnSpc>
                <a:spcPts val="2050"/>
              </a:lnSpc>
              <a:buSzPct val="100000"/>
              <a:buFont typeface="+mj-lt"/>
              <a:buAutoNum type="arabicPeriod"/>
            </a:pPr>
            <a:endParaRPr lang="en-US" sz="1300" dirty="0" smtClean="0"/>
          </a:p>
          <a:p>
            <a:pPr marL="342900" indent="-342900" algn="l">
              <a:lnSpc>
                <a:spcPts val="2050"/>
              </a:lnSpc>
              <a:buSzPct val="100000"/>
              <a:buFont typeface="+mj-lt"/>
              <a:buAutoNum type="arabicPeriod"/>
            </a:pPr>
            <a:endParaRPr lang="en-US" sz="1300" dirty="0"/>
          </a:p>
          <a:p>
            <a:pPr marL="342900" indent="-342900" algn="l">
              <a:lnSpc>
                <a:spcPts val="2050"/>
              </a:lnSpc>
              <a:buSzPct val="100000"/>
              <a:buFont typeface="+mj-lt"/>
              <a:buAutoNum type="arabicPeriod"/>
            </a:pPr>
            <a:endParaRPr lang="en-US" sz="1300" dirty="0" smtClean="0"/>
          </a:p>
          <a:p>
            <a:pPr marL="342900" indent="-342900" algn="l">
              <a:lnSpc>
                <a:spcPts val="2050"/>
              </a:lnSpc>
              <a:buSzPct val="100000"/>
              <a:buFont typeface="+mj-lt"/>
              <a:buAutoNum type="arabicPeriod"/>
            </a:pPr>
            <a:endParaRPr lang="en-US" sz="1300" dirty="0"/>
          </a:p>
          <a:p>
            <a:pPr marL="342900" indent="-342900" algn="l">
              <a:lnSpc>
                <a:spcPts val="2050"/>
              </a:lnSpc>
              <a:buSzPct val="100000"/>
              <a:buFont typeface="+mj-lt"/>
              <a:buAutoNum type="arabicPeriod"/>
            </a:pPr>
            <a:endParaRPr lang="en-US" sz="1300" dirty="0" smtClean="0"/>
          </a:p>
          <a:p>
            <a:pPr marL="342900" indent="-342900" algn="l">
              <a:lnSpc>
                <a:spcPts val="2050"/>
              </a:lnSpc>
              <a:buSzPct val="100000"/>
              <a:buFont typeface="+mj-lt"/>
              <a:buAutoNum type="arabicPeriod"/>
            </a:pPr>
            <a:endParaRPr lang="en-US" sz="1300" dirty="0"/>
          </a:p>
          <a:p>
            <a:pPr marL="342900" indent="-342900" algn="l">
              <a:lnSpc>
                <a:spcPts val="2050"/>
              </a:lnSpc>
              <a:buSzPct val="100000"/>
              <a:buFont typeface="+mj-lt"/>
              <a:buAutoNum type="arabicPeriod"/>
            </a:pPr>
            <a:endParaRPr lang="en-US" sz="1300" dirty="0" smtClean="0"/>
          </a:p>
          <a:p>
            <a:pPr marL="342900" indent="-342900" algn="l">
              <a:lnSpc>
                <a:spcPts val="2050"/>
              </a:lnSpc>
              <a:buSzPct val="100000"/>
              <a:buFont typeface="+mj-lt"/>
              <a:buAutoNum type="arabicPeriod"/>
            </a:pPr>
            <a:endParaRPr lang="en-US" sz="1300" dirty="0"/>
          </a:p>
          <a:p>
            <a:pPr marL="342900" indent="-342900" algn="l">
              <a:lnSpc>
                <a:spcPts val="2050"/>
              </a:lnSpc>
              <a:buSzPct val="100000"/>
              <a:buFont typeface="+mj-lt"/>
              <a:buAutoNum type="arabicPeriod"/>
            </a:pPr>
            <a:endParaRPr lang="en-US" sz="1300" dirty="0" smtClean="0"/>
          </a:p>
          <a:p>
            <a:pPr marL="342900" indent="-342900" algn="l">
              <a:lnSpc>
                <a:spcPts val="2050"/>
              </a:lnSpc>
              <a:buSzPct val="100000"/>
              <a:buFont typeface="+mj-lt"/>
              <a:buAutoNum type="arabicPeriod"/>
            </a:pPr>
            <a:endParaRPr lang="en-US" sz="1300" dirty="0"/>
          </a:p>
          <a:p>
            <a:pPr marL="342900" indent="-342900" algn="l">
              <a:lnSpc>
                <a:spcPts val="2050"/>
              </a:lnSpc>
              <a:buSzPct val="100000"/>
              <a:buFont typeface="+mj-lt"/>
              <a:buAutoNum type="arabicPeriod"/>
            </a:pPr>
            <a:endParaRPr lang="en-US" sz="1300" dirty="0" smtClean="0"/>
          </a:p>
          <a:p>
            <a:pPr marL="342900" indent="-342900" algn="l">
              <a:lnSpc>
                <a:spcPts val="2050"/>
              </a:lnSpc>
              <a:buSzPct val="100000"/>
              <a:buFont typeface="+mj-lt"/>
              <a:buAutoNum type="arabicPeriod"/>
            </a:pPr>
            <a:endParaRPr lang="en-US" sz="1300" dirty="0"/>
          </a:p>
          <a:p>
            <a:pPr marL="342900" indent="-342900" algn="l">
              <a:lnSpc>
                <a:spcPts val="2050"/>
              </a:lnSpc>
              <a:buSzPct val="100000"/>
              <a:buFont typeface="+mj-lt"/>
              <a:buAutoNum type="arabicPeriod"/>
            </a:pPr>
            <a:endParaRPr lang="en-US" sz="1300" dirty="0" smtClean="0"/>
          </a:p>
          <a:p>
            <a:pPr marL="342900" indent="-342900" algn="l">
              <a:lnSpc>
                <a:spcPts val="2050"/>
              </a:lnSpc>
              <a:buSzPct val="100000"/>
              <a:buFont typeface="+mj-lt"/>
              <a:buAutoNum type="arabicPeriod"/>
            </a:pPr>
            <a:endParaRPr lang="en-US" sz="1300" dirty="0"/>
          </a:p>
          <a:p>
            <a:pPr marL="342900" indent="-342900" algn="l">
              <a:lnSpc>
                <a:spcPts val="2050"/>
              </a:lnSpc>
              <a:buSzPct val="100000"/>
              <a:buFont typeface="+mj-lt"/>
              <a:buAutoNum type="arabicPeriod"/>
            </a:pPr>
            <a:endParaRPr lang="en-US" sz="1300" dirty="0"/>
          </a:p>
        </p:txBody>
      </p:sp>
      <p:sp>
        <p:nvSpPr>
          <p:cNvPr id="17" name="Text 11"/>
          <p:cNvSpPr/>
          <p:nvPr/>
        </p:nvSpPr>
        <p:spPr>
          <a:xfrm>
            <a:off x="1749028" y="7053263"/>
            <a:ext cx="4983123" cy="266462"/>
          </a:xfrm>
          <a:prstGeom prst="rect">
            <a:avLst/>
          </a:prstGeom>
          <a:noFill/>
        </p:spPr>
        <p:txBody>
          <a:bodyPr wrap="none" lIns="0" tIns="0" rIns="0" bIns="0" rtlCol="0" anchor="t"/>
          <a:lstStyle/>
          <a:p>
            <a:pPr algn="l">
              <a:lnSpc>
                <a:spcPts val="2050"/>
              </a:lnSpc>
              <a:buSzPct val="100000"/>
            </a:pPr>
            <a:endParaRPr lang="en-US" sz="1300" dirty="0"/>
          </a:p>
        </p:txBody>
      </p:sp>
      <p:sp>
        <p:nvSpPr>
          <p:cNvPr id="18" name="Text 0"/>
          <p:cNvSpPr/>
          <p:nvPr/>
        </p:nvSpPr>
        <p:spPr>
          <a:xfrm>
            <a:off x="447318" y="1810344"/>
            <a:ext cx="6149102" cy="223839"/>
          </a:xfrm>
          <a:prstGeom prst="rect">
            <a:avLst/>
          </a:prstGeom>
          <a:noFill/>
        </p:spPr>
        <p:txBody>
          <a:bodyPr wrap="square" lIns="0" tIns="0" rIns="0" bIns="0" rtlCol="0" anchor="t"/>
          <a:lstStyle/>
          <a:p>
            <a:pPr marL="0" indent="0" algn="l">
              <a:lnSpc>
                <a:spcPts val="4050"/>
              </a:lnSpc>
              <a:buNone/>
            </a:pPr>
            <a:endParaRPr lang="en-US" sz="3250" i="1" dirty="0"/>
          </a:p>
        </p:txBody>
      </p:sp>
      <p:sp>
        <p:nvSpPr>
          <p:cNvPr id="20" name="Rectangle 19"/>
          <p:cNvSpPr/>
          <p:nvPr/>
        </p:nvSpPr>
        <p:spPr>
          <a:xfrm>
            <a:off x="869244" y="2406640"/>
            <a:ext cx="7461956" cy="4801314"/>
          </a:xfrm>
          <a:prstGeom prst="rect">
            <a:avLst/>
          </a:prstGeom>
        </p:spPr>
        <p:txBody>
          <a:bodyPr wrap="square">
            <a:spAutoFit/>
          </a:bodyPr>
          <a:lstStyle/>
          <a:p>
            <a:r>
              <a:rPr lang="en-US" dirty="0">
                <a:ea typeface="Roboto Condensed" panose="020B0604020202020204" charset="0"/>
              </a:rPr>
              <a:t>The project follows a structured data science pipeline</a:t>
            </a:r>
            <a:r>
              <a:rPr lang="en-US" dirty="0" smtClean="0">
                <a:ea typeface="Roboto Condensed" panose="020B0604020202020204" charset="0"/>
              </a:rPr>
              <a:t>:</a:t>
            </a:r>
          </a:p>
          <a:p>
            <a:endParaRPr lang="en-US" dirty="0">
              <a:ea typeface="Roboto Condensed" panose="020B0604020202020204" charset="0"/>
            </a:endParaRPr>
          </a:p>
          <a:p>
            <a:pPr marL="342900" indent="-342900">
              <a:buAutoNum type="arabicPeriod"/>
            </a:pPr>
            <a:r>
              <a:rPr lang="en-US" dirty="0">
                <a:ea typeface="Roboto Condensed" panose="020B0604020202020204" charset="0"/>
              </a:rPr>
              <a:t> </a:t>
            </a:r>
            <a:r>
              <a:rPr lang="en-US" b="1" dirty="0" smtClean="0">
                <a:ea typeface="Roboto Condensed" panose="020B0604020202020204" charset="0"/>
              </a:rPr>
              <a:t>Data Acquisition:</a:t>
            </a:r>
          </a:p>
          <a:p>
            <a:pPr marL="342900" indent="-342900">
              <a:buAutoNum type="arabicPeriod"/>
            </a:pPr>
            <a:r>
              <a:rPr lang="en-US" dirty="0" smtClean="0">
                <a:ea typeface="Roboto Condensed" panose="020B0604020202020204" charset="0"/>
              </a:rPr>
              <a:t>Loading </a:t>
            </a:r>
            <a:r>
              <a:rPr lang="en-US" dirty="0">
                <a:ea typeface="Roboto Condensed" panose="020B0604020202020204" charset="0"/>
              </a:rPr>
              <a:t>the dataset from a CSV file (`students_performance.csv`).</a:t>
            </a:r>
          </a:p>
          <a:p>
            <a:r>
              <a:rPr lang="en-US" dirty="0" smtClean="0">
                <a:ea typeface="Roboto Condensed" panose="020B0604020202020204" charset="0"/>
              </a:rPr>
              <a:t>2</a:t>
            </a:r>
            <a:r>
              <a:rPr lang="en-US" dirty="0">
                <a:ea typeface="Roboto Condensed" panose="020B0604020202020204" charset="0"/>
              </a:rPr>
              <a:t>.  </a:t>
            </a:r>
            <a:r>
              <a:rPr lang="en-US" b="1" dirty="0" smtClean="0">
                <a:ea typeface="Roboto Condensed" panose="020B0604020202020204" charset="0"/>
              </a:rPr>
              <a:t>Data Cleaning: </a:t>
            </a:r>
          </a:p>
          <a:p>
            <a:r>
              <a:rPr lang="en-US" dirty="0" smtClean="0">
                <a:ea typeface="Roboto Condensed" panose="020B0604020202020204" charset="0"/>
              </a:rPr>
              <a:t>Checking </a:t>
            </a:r>
            <a:r>
              <a:rPr lang="en-US" dirty="0">
                <a:ea typeface="Roboto Condensed" panose="020B0604020202020204" charset="0"/>
              </a:rPr>
              <a:t>for and handling missing values and duplicate records to ensure data integrity.</a:t>
            </a:r>
          </a:p>
          <a:p>
            <a:r>
              <a:rPr lang="en-US" dirty="0">
                <a:ea typeface="Roboto Condensed" panose="020B0604020202020204" charset="0"/>
              </a:rPr>
              <a:t>3</a:t>
            </a:r>
            <a:r>
              <a:rPr lang="en-US" b="1" dirty="0">
                <a:ea typeface="Roboto Condensed" panose="020B0604020202020204" charset="0"/>
              </a:rPr>
              <a:t>.  </a:t>
            </a:r>
            <a:r>
              <a:rPr lang="en-US" b="1" dirty="0" smtClean="0">
                <a:ea typeface="Roboto Condensed" panose="020B0604020202020204" charset="0"/>
              </a:rPr>
              <a:t>Data Analysis:</a:t>
            </a:r>
          </a:p>
          <a:p>
            <a:r>
              <a:rPr lang="en-US" dirty="0" smtClean="0">
                <a:ea typeface="Roboto Condensed" panose="020B0604020202020204" charset="0"/>
              </a:rPr>
              <a:t> </a:t>
            </a:r>
            <a:r>
              <a:rPr lang="en-US" dirty="0">
                <a:ea typeface="Roboto Condensed" panose="020B0604020202020204" charset="0"/>
              </a:rPr>
              <a:t>Computing descriptive statistics (mean, min, max) and grouping data by key variables (Gender).</a:t>
            </a:r>
          </a:p>
          <a:p>
            <a:r>
              <a:rPr lang="en-US" dirty="0">
                <a:ea typeface="Roboto Condensed" panose="020B0604020202020204" charset="0"/>
              </a:rPr>
              <a:t>4.  </a:t>
            </a:r>
            <a:r>
              <a:rPr lang="en-US" b="1" dirty="0" smtClean="0">
                <a:ea typeface="Roboto Condensed" panose="020B0604020202020204" charset="0"/>
              </a:rPr>
              <a:t>Visualization:</a:t>
            </a:r>
          </a:p>
          <a:p>
            <a:r>
              <a:rPr lang="en-US" dirty="0" smtClean="0">
                <a:ea typeface="Roboto Condensed" panose="020B0604020202020204" charset="0"/>
              </a:rPr>
              <a:t> </a:t>
            </a:r>
            <a:r>
              <a:rPr lang="en-US" dirty="0">
                <a:ea typeface="Roboto Condensed" panose="020B0604020202020204" charset="0"/>
              </a:rPr>
              <a:t>Creating bar charts to visually compare performance across subjects and demographics.</a:t>
            </a:r>
          </a:p>
          <a:p>
            <a:r>
              <a:rPr lang="en-US" b="1" dirty="0">
                <a:ea typeface="Roboto Condensed" panose="020B0604020202020204" charset="0"/>
              </a:rPr>
              <a:t/>
            </a:r>
            <a:br>
              <a:rPr lang="en-US" b="1" dirty="0">
                <a:ea typeface="Roboto Condensed" panose="020B0604020202020204" charset="0"/>
              </a:rPr>
            </a:br>
            <a:r>
              <a:rPr lang="en-US" b="1" dirty="0" smtClean="0">
                <a:ea typeface="Roboto Condensed" panose="020B0604020202020204" charset="0"/>
              </a:rPr>
              <a:t>Tools </a:t>
            </a:r>
            <a:r>
              <a:rPr lang="en-US" b="1" dirty="0">
                <a:ea typeface="Roboto Condensed" panose="020B0604020202020204" charset="0"/>
              </a:rPr>
              <a:t>Used</a:t>
            </a:r>
            <a:r>
              <a:rPr lang="en-US" b="1" dirty="0" smtClean="0">
                <a:ea typeface="Roboto Condensed" panose="020B0604020202020204" charset="0"/>
              </a:rPr>
              <a:t>:</a:t>
            </a:r>
          </a:p>
          <a:p>
            <a:r>
              <a:rPr lang="en-US" dirty="0" smtClean="0">
                <a:ea typeface="Roboto Condensed" panose="020B0604020202020204" charset="0"/>
              </a:rPr>
              <a:t> </a:t>
            </a:r>
            <a:r>
              <a:rPr lang="en-US" dirty="0">
                <a:ea typeface="Roboto Condensed" panose="020B0604020202020204" charset="0"/>
              </a:rPr>
              <a:t>Python, Pandas (for data manipulation), </a:t>
            </a:r>
            <a:r>
              <a:rPr lang="en-US" dirty="0" err="1">
                <a:ea typeface="Roboto Condensed" panose="020B0604020202020204" charset="0"/>
              </a:rPr>
              <a:t>Matplotlib</a:t>
            </a:r>
            <a:r>
              <a:rPr lang="en-US" dirty="0">
                <a:ea typeface="Roboto Condensed" panose="020B0604020202020204" charset="0"/>
              </a:rPr>
              <a:t> and </a:t>
            </a:r>
            <a:r>
              <a:rPr lang="en-US" dirty="0" err="1">
                <a:ea typeface="Roboto Condensed" panose="020B0604020202020204" charset="0"/>
              </a:rPr>
              <a:t>Seaborn</a:t>
            </a:r>
            <a:r>
              <a:rPr lang="en-US" dirty="0">
                <a:ea typeface="Roboto Condensed" panose="020B0604020202020204" charset="0"/>
              </a:rPr>
              <a:t> (for visualization).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49622" y="124381"/>
            <a:ext cx="10861596" cy="391120"/>
          </a:xfrm>
          <a:prstGeom prst="rect">
            <a:avLst/>
          </a:prstGeom>
          <a:noFill/>
        </p:spPr>
        <p:txBody>
          <a:bodyPr wrap="none" lIns="0" tIns="0" rIns="0" bIns="0" rtlCol="0" anchor="t"/>
          <a:lstStyle/>
          <a:p>
            <a:pPr marL="0" indent="0" algn="l">
              <a:lnSpc>
                <a:spcPts val="3050"/>
              </a:lnSpc>
              <a:buNone/>
            </a:pPr>
            <a:r>
              <a:rPr lang="en-US" sz="2450" b="1" dirty="0">
                <a:solidFill>
                  <a:srgbClr val="0C0D0F"/>
                </a:solidFill>
                <a:latin typeface="Hubot Sans Bold" pitchFamily="34" charset="0"/>
                <a:ea typeface="Hubot Sans Bold" pitchFamily="34" charset="-122"/>
                <a:cs typeface="Hubot Sans Bold" pitchFamily="34" charset="-120"/>
              </a:rPr>
              <a:t>COMPARISON OF SUBJECT PERFORMANCE</a:t>
            </a:r>
            <a:r>
              <a:rPr lang="en-US" sz="2450" b="1" dirty="0" smtClean="0">
                <a:solidFill>
                  <a:srgbClr val="0C0D0F"/>
                </a:solidFill>
                <a:latin typeface="Hubot Sans Bold" pitchFamily="34" charset="0"/>
                <a:ea typeface="Hubot Sans Bold" pitchFamily="34" charset="-122"/>
                <a:cs typeface="Hubot Sans Bold" pitchFamily="34" charset="-120"/>
              </a:rPr>
              <a:t>:</a:t>
            </a:r>
            <a:endParaRPr lang="en-US" sz="2450" dirty="0"/>
          </a:p>
        </p:txBody>
      </p:sp>
      <p:sp>
        <p:nvSpPr>
          <p:cNvPr id="4" name="Text 1"/>
          <p:cNvSpPr/>
          <p:nvPr/>
        </p:nvSpPr>
        <p:spPr>
          <a:xfrm>
            <a:off x="149860" y="7117080"/>
            <a:ext cx="13754735" cy="433705"/>
          </a:xfrm>
          <a:prstGeom prst="rect">
            <a:avLst/>
          </a:prstGeom>
          <a:noFill/>
        </p:spPr>
        <p:txBody>
          <a:bodyPr wrap="none" lIns="0" tIns="0" rIns="0" bIns="0" rtlCol="0" anchor="t"/>
          <a:lstStyle/>
          <a:p>
            <a:pPr marL="0" indent="0" algn="l">
              <a:lnSpc>
                <a:spcPts val="1550"/>
              </a:lnSpc>
              <a:buNone/>
            </a:pPr>
            <a:endParaRPr lang="en-US" sz="14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endParaRPr>
          </a:p>
        </p:txBody>
      </p:sp>
      <p:sp>
        <p:nvSpPr>
          <p:cNvPr id="5" name="Text 2"/>
          <p:cNvSpPr/>
          <p:nvPr/>
        </p:nvSpPr>
        <p:spPr>
          <a:xfrm>
            <a:off x="149622" y="7709098"/>
            <a:ext cx="13754576" cy="400288"/>
          </a:xfrm>
          <a:prstGeom prst="rect">
            <a:avLst/>
          </a:prstGeom>
          <a:noFill/>
        </p:spPr>
        <p:txBody>
          <a:bodyPr wrap="square" lIns="0" tIns="0" rIns="0" bIns="0" rtlCol="0" anchor="t"/>
          <a:lstStyle/>
          <a:p>
            <a:pPr marL="0" indent="0" algn="l">
              <a:lnSpc>
                <a:spcPts val="1550"/>
              </a:lnSpc>
              <a:buNone/>
            </a:pPr>
            <a:r>
              <a:rPr lang="en-US" sz="1600" dirty="0" smtClean="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I</a:t>
            </a:r>
            <a:endParaRPr lang="en-US" sz="1600" dirty="0"/>
          </a:p>
        </p:txBody>
      </p:sp>
      <p:sp>
        <p:nvSpPr>
          <p:cNvPr id="20" name="Text Box 19"/>
          <p:cNvSpPr txBox="1"/>
          <p:nvPr/>
        </p:nvSpPr>
        <p:spPr>
          <a:xfrm>
            <a:off x="12665075" y="7550785"/>
            <a:ext cx="1965325" cy="558165"/>
          </a:xfrm>
          <a:prstGeom prst="rect">
            <a:avLst/>
          </a:prstGeom>
          <a:solidFill>
            <a:schemeClr val="bg2"/>
          </a:solidFill>
        </p:spPr>
        <p:txBody>
          <a:bodyPr wrap="square" rtlCol="0">
            <a:noAutofit/>
          </a:bodyPr>
          <a:lstStyle/>
          <a:p>
            <a:endParaRPr lang="en-US"/>
          </a:p>
        </p:txBody>
      </p:sp>
      <p:sp>
        <p:nvSpPr>
          <p:cNvPr id="6" name="Rectangle 5"/>
          <p:cNvSpPr/>
          <p:nvPr/>
        </p:nvSpPr>
        <p:spPr>
          <a:xfrm>
            <a:off x="293511" y="850458"/>
            <a:ext cx="10972800" cy="2308324"/>
          </a:xfrm>
          <a:prstGeom prst="rect">
            <a:avLst/>
          </a:prstGeom>
        </p:spPr>
        <p:txBody>
          <a:bodyPr wrap="square">
            <a:spAutoFit/>
          </a:bodyPr>
          <a:lstStyle/>
          <a:p>
            <a:r>
              <a:rPr lang="en-US" dirty="0"/>
              <a:t>A key part of this analysis was comparing performance based on </a:t>
            </a:r>
            <a:r>
              <a:rPr lang="en-US" dirty="0" smtClean="0"/>
              <a:t>Gender</a:t>
            </a:r>
          </a:p>
          <a:p>
            <a:endParaRPr lang="en-US" dirty="0"/>
          </a:p>
          <a:p>
            <a:r>
              <a:rPr lang="en-US" dirty="0"/>
              <a:t>  </a:t>
            </a:r>
            <a:r>
              <a:rPr lang="en-US" b="1" dirty="0" smtClean="0"/>
              <a:t>Math:</a:t>
            </a:r>
          </a:p>
          <a:p>
            <a:pPr marL="285750" indent="-285750">
              <a:buFont typeface="Wingdings" panose="05000000000000000000" pitchFamily="2" charset="2"/>
              <a:buChar char="Ø"/>
            </a:pPr>
            <a:r>
              <a:rPr lang="en-US" dirty="0" smtClean="0"/>
              <a:t>Females </a:t>
            </a:r>
            <a:r>
              <a:rPr lang="en-US" dirty="0"/>
              <a:t>(86.2) scored significantly higher than Males (69.0).</a:t>
            </a:r>
          </a:p>
          <a:p>
            <a:r>
              <a:rPr lang="en-US" dirty="0"/>
              <a:t>  </a:t>
            </a:r>
            <a:r>
              <a:rPr lang="en-US" b="1" dirty="0" smtClean="0"/>
              <a:t>English</a:t>
            </a:r>
            <a:r>
              <a:rPr lang="en-US" dirty="0" smtClean="0"/>
              <a:t>:</a:t>
            </a:r>
          </a:p>
          <a:p>
            <a:pPr marL="285750" indent="-285750">
              <a:buFont typeface="Wingdings" panose="05000000000000000000" pitchFamily="2" charset="2"/>
              <a:buChar char="Ø"/>
            </a:pPr>
            <a:r>
              <a:rPr lang="en-US" dirty="0" smtClean="0"/>
              <a:t> </a:t>
            </a:r>
            <a:r>
              <a:rPr lang="en-US" dirty="0"/>
              <a:t>Females (87.0) outperformed Males (68.8).</a:t>
            </a:r>
          </a:p>
          <a:p>
            <a:r>
              <a:rPr lang="en-US" dirty="0"/>
              <a:t>  </a:t>
            </a:r>
            <a:r>
              <a:rPr lang="en-US" b="1" dirty="0" smtClean="0"/>
              <a:t>Science</a:t>
            </a:r>
            <a:r>
              <a:rPr lang="en-US" dirty="0" smtClean="0"/>
              <a:t>:</a:t>
            </a:r>
          </a:p>
          <a:p>
            <a:pPr marL="285750" indent="-285750">
              <a:buFont typeface="Wingdings" panose="05000000000000000000" pitchFamily="2" charset="2"/>
              <a:buChar char="Ø"/>
            </a:pPr>
            <a:r>
              <a:rPr lang="en-US" dirty="0" smtClean="0"/>
              <a:t> </a:t>
            </a:r>
            <a:r>
              <a:rPr lang="en-US" dirty="0"/>
              <a:t>Females (88.8) also led in Science compared to Males (71.0).</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978" y="3273778"/>
            <a:ext cx="11458231" cy="46467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04455" y="318254"/>
            <a:ext cx="2889528" cy="361117"/>
          </a:xfrm>
          <a:prstGeom prst="rect">
            <a:avLst/>
          </a:prstGeom>
          <a:noFill/>
        </p:spPr>
        <p:txBody>
          <a:bodyPr wrap="none" lIns="0" tIns="0" rIns="0" bIns="0" rtlCol="0" anchor="t"/>
          <a:lstStyle/>
          <a:p>
            <a:pPr marL="0" indent="0" algn="l">
              <a:lnSpc>
                <a:spcPts val="2800"/>
              </a:lnSpc>
              <a:buNone/>
            </a:pPr>
            <a:r>
              <a:rPr lang="en-US" sz="2250" b="1" dirty="0">
                <a:solidFill>
                  <a:srgbClr val="0C0D0F"/>
                </a:solidFill>
                <a:latin typeface="Hubot Sans Bold" pitchFamily="34" charset="0"/>
                <a:ea typeface="Hubot Sans Bold" pitchFamily="34" charset="-122"/>
                <a:cs typeface="Hubot Sans Bold" pitchFamily="34" charset="-120"/>
              </a:rPr>
              <a:t>RESULTS</a:t>
            </a:r>
            <a:endParaRPr lang="en-US" sz="2250" dirty="0"/>
          </a:p>
        </p:txBody>
      </p:sp>
      <p:sp>
        <p:nvSpPr>
          <p:cNvPr id="20" name="Text Box 19"/>
          <p:cNvSpPr txBox="1"/>
          <p:nvPr/>
        </p:nvSpPr>
        <p:spPr>
          <a:xfrm>
            <a:off x="12077700" y="7550785"/>
            <a:ext cx="2552700" cy="558165"/>
          </a:xfrm>
          <a:prstGeom prst="rect">
            <a:avLst/>
          </a:prstGeom>
          <a:solidFill>
            <a:schemeClr val="bg2"/>
          </a:solidFill>
        </p:spPr>
        <p:txBody>
          <a:bodyPr wrap="square" rtlCol="0">
            <a:noAutofit/>
          </a:bodyPr>
          <a:lstStyle/>
          <a:p>
            <a:endParaRPr lang="en-US"/>
          </a:p>
        </p:txBody>
      </p:sp>
      <p:sp>
        <p:nvSpPr>
          <p:cNvPr id="12" name="Text Box 11"/>
          <p:cNvSpPr txBox="1"/>
          <p:nvPr/>
        </p:nvSpPr>
        <p:spPr>
          <a:xfrm>
            <a:off x="404495" y="7795260"/>
            <a:ext cx="8357870" cy="337185"/>
          </a:xfrm>
          <a:prstGeom prst="rect">
            <a:avLst/>
          </a:prstGeom>
          <a:noFill/>
        </p:spPr>
        <p:txBody>
          <a:bodyPr wrap="square" rtlCol="0">
            <a:spAutoFit/>
          </a:bodyPr>
          <a:lstStyle/>
          <a:p>
            <a:r>
              <a:rPr lang="en-US" sz="1600" b="1"/>
              <a:t>(Graph showing average scores in Math,English, and S ciense)</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512" y="3101495"/>
            <a:ext cx="7947526" cy="4572009"/>
          </a:xfrm>
          <a:prstGeom prst="rect">
            <a:avLst/>
          </a:prstGeom>
        </p:spPr>
      </p:pic>
      <p:sp>
        <p:nvSpPr>
          <p:cNvPr id="8" name="Rectangle 7"/>
          <p:cNvSpPr/>
          <p:nvPr/>
        </p:nvSpPr>
        <p:spPr>
          <a:xfrm>
            <a:off x="293512" y="793171"/>
            <a:ext cx="7315200" cy="2308324"/>
          </a:xfrm>
          <a:prstGeom prst="rect">
            <a:avLst/>
          </a:prstGeom>
        </p:spPr>
        <p:txBody>
          <a:bodyPr>
            <a:spAutoFit/>
          </a:bodyPr>
          <a:lstStyle/>
          <a:p>
            <a:pPr algn="just"/>
            <a:r>
              <a:rPr lang="en-US" b="1" dirty="0" smtClean="0"/>
              <a:t>overall Performance:</a:t>
            </a:r>
            <a:r>
              <a:rPr lang="en-US" dirty="0" smtClean="0"/>
              <a:t> </a:t>
            </a:r>
            <a:r>
              <a:rPr lang="en-US" dirty="0"/>
              <a:t>The average scores across all students were Math: 77.6, English: 77.9, and Science: 79.9.</a:t>
            </a:r>
          </a:p>
          <a:p>
            <a:pPr algn="just"/>
            <a:r>
              <a:rPr lang="en-US" b="1" dirty="0" smtClean="0"/>
              <a:t>Gender Differences</a:t>
            </a:r>
            <a:r>
              <a:rPr lang="en-US" dirty="0" smtClean="0"/>
              <a:t>: </a:t>
            </a:r>
            <a:r>
              <a:rPr lang="en-US" dirty="0"/>
              <a:t>Females consistently performed better than Males across all three subjects.</a:t>
            </a:r>
          </a:p>
          <a:p>
            <a:pPr algn="just"/>
            <a:r>
              <a:rPr lang="en-US" dirty="0"/>
              <a:t> </a:t>
            </a:r>
            <a:r>
              <a:rPr lang="en-US" b="1" dirty="0" smtClean="0"/>
              <a:t>Visualizations</a:t>
            </a:r>
            <a:r>
              <a:rPr lang="en-US" dirty="0" smtClean="0"/>
              <a:t>  </a:t>
            </a:r>
          </a:p>
          <a:p>
            <a:pPr marL="285750" indent="-285750" algn="just">
              <a:buFont typeface="Wingdings" panose="05000000000000000000" pitchFamily="2" charset="2"/>
              <a:buChar char="Ø"/>
            </a:pPr>
            <a:r>
              <a:rPr lang="en-US" b="1" dirty="0" smtClean="0"/>
              <a:t>`average_scores.png`: </a:t>
            </a:r>
            <a:r>
              <a:rPr lang="en-US" dirty="0" smtClean="0"/>
              <a:t>Shows the average score for each subject.</a:t>
            </a:r>
          </a:p>
          <a:p>
            <a:pPr marL="285750" indent="-285750" algn="just">
              <a:buFont typeface="Wingdings" panose="05000000000000000000" pitchFamily="2" charset="2"/>
              <a:buChar char="Ø"/>
            </a:pPr>
            <a:r>
              <a:rPr lang="en-US" dirty="0" smtClean="0"/>
              <a:t>`</a:t>
            </a:r>
            <a:r>
              <a:rPr lang="en-US" b="1" dirty="0" smtClean="0"/>
              <a:t>gender_comparison.png</a:t>
            </a:r>
            <a:r>
              <a:rPr lang="en-US" b="1" dirty="0"/>
              <a:t>`: </a:t>
            </a:r>
            <a:r>
              <a:rPr lang="en-US" dirty="0"/>
              <a:t>Highlights differences between Male and Female students.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4853" y="674132"/>
            <a:ext cx="13399294" cy="1099185"/>
          </a:xfrm>
          <a:prstGeom prst="rect">
            <a:avLst/>
          </a:prstGeom>
          <a:noFill/>
        </p:spPr>
        <p:txBody>
          <a:bodyPr wrap="square" lIns="0" tIns="0" rIns="0" bIns="0" rtlCol="0" anchor="t"/>
          <a:lstStyle/>
          <a:p>
            <a:pPr marL="0" indent="0" algn="l">
              <a:lnSpc>
                <a:spcPts val="4300"/>
              </a:lnSpc>
              <a:buNone/>
            </a:pPr>
            <a:r>
              <a:rPr lang="en-US" sz="3600" b="1" dirty="0">
                <a:solidFill>
                  <a:srgbClr val="0C0D0F"/>
                </a:solidFill>
                <a:latin typeface="Hubot Sans Bold" pitchFamily="34" charset="0"/>
                <a:ea typeface="Hubot Sans Bold" pitchFamily="34" charset="-122"/>
                <a:cs typeface="Hubot Sans Bold" pitchFamily="34" charset="-120"/>
              </a:rPr>
              <a:t>CONCLUSION: DATA-DRIVEN EDUCATION FOR THE FUTURE</a:t>
            </a:r>
            <a:endParaRPr lang="en-US" sz="3600" dirty="0"/>
          </a:p>
        </p:txBody>
      </p:sp>
      <p:pic>
        <p:nvPicPr>
          <p:cNvPr id="7" name="Image 0" descr="preencoded.png"/>
          <p:cNvPicPr>
            <a:picLocks noChangeAspect="1"/>
          </p:cNvPicPr>
          <p:nvPr/>
        </p:nvPicPr>
        <p:blipFill>
          <a:blip r:embed="rId3"/>
          <a:stretch>
            <a:fillRect/>
          </a:stretch>
        </p:blipFill>
        <p:spPr>
          <a:xfrm>
            <a:off x="7537450" y="2044700"/>
            <a:ext cx="7092950" cy="6485255"/>
          </a:xfrm>
          <a:prstGeom prst="rect">
            <a:avLst/>
          </a:prstGeom>
        </p:spPr>
      </p:pic>
      <p:sp>
        <p:nvSpPr>
          <p:cNvPr id="8" name="Rectangle 7"/>
          <p:cNvSpPr/>
          <p:nvPr/>
        </p:nvSpPr>
        <p:spPr>
          <a:xfrm>
            <a:off x="225778" y="1639838"/>
            <a:ext cx="7097183" cy="5016758"/>
          </a:xfrm>
          <a:prstGeom prst="rect">
            <a:avLst/>
          </a:prstGeom>
        </p:spPr>
        <p:txBody>
          <a:bodyPr wrap="square">
            <a:spAutoFit/>
          </a:bodyPr>
          <a:lstStyle/>
          <a:p>
            <a:r>
              <a:rPr lang="en-US" sz="3200" dirty="0" smtClean="0"/>
              <a:t>The analysis </a:t>
            </a:r>
            <a:r>
              <a:rPr lang="en-US" sz="3200" dirty="0"/>
              <a:t>provides a clear overview of student performance. Results indicate that Female students outperformed Male students in all subject areas within this dataset. This suggests that while the overall average is satisfactory, male students might benefit from additional support. Future work could involve analyzing other factors like study time or attendance if such data were available.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4068366"/>
          </a:xfrm>
          <a:prstGeom prst="rect">
            <a:avLst/>
          </a:prstGeom>
        </p:spPr>
      </p:pic>
      <p:sp>
        <p:nvSpPr>
          <p:cNvPr id="3" name="Text 0"/>
          <p:cNvSpPr/>
          <p:nvPr/>
        </p:nvSpPr>
        <p:spPr>
          <a:xfrm>
            <a:off x="759381" y="4665821"/>
            <a:ext cx="5424487" cy="678061"/>
          </a:xfrm>
          <a:prstGeom prst="rect">
            <a:avLst/>
          </a:prstGeom>
          <a:noFill/>
        </p:spPr>
        <p:txBody>
          <a:bodyPr wrap="none" lIns="0" tIns="0" rIns="0" bIns="0" rtlCol="0" anchor="t"/>
          <a:lstStyle/>
          <a:p>
            <a:pPr marL="0" indent="0" algn="l">
              <a:lnSpc>
                <a:spcPts val="5300"/>
              </a:lnSpc>
              <a:buNone/>
            </a:pPr>
            <a:r>
              <a:rPr lang="en-US" sz="4250" b="1" dirty="0">
                <a:solidFill>
                  <a:srgbClr val="0C0D0F"/>
                </a:solidFill>
                <a:latin typeface="Hubot Sans Bold" pitchFamily="34" charset="0"/>
                <a:ea typeface="Hubot Sans Bold" pitchFamily="34" charset="-122"/>
                <a:cs typeface="Hubot Sans Bold" pitchFamily="34" charset="-120"/>
              </a:rPr>
              <a:t>REFERENCES</a:t>
            </a:r>
            <a:endParaRPr lang="en-US" sz="4250" dirty="0"/>
          </a:p>
        </p:txBody>
      </p:sp>
      <p:sp>
        <p:nvSpPr>
          <p:cNvPr id="4" name="Text 1"/>
          <p:cNvSpPr/>
          <p:nvPr/>
        </p:nvSpPr>
        <p:spPr>
          <a:xfrm>
            <a:off x="759381" y="5669280"/>
            <a:ext cx="13111639" cy="347067"/>
          </a:xfrm>
          <a:prstGeom prst="rect">
            <a:avLst/>
          </a:prstGeom>
          <a:noFill/>
        </p:spPr>
        <p:txBody>
          <a:bodyPr wrap="none" lIns="0" tIns="0" rIns="0" bIns="0" rtlCol="0" anchor="t"/>
          <a:lstStyle/>
          <a:p>
            <a:pPr marL="0" indent="0" algn="l">
              <a:lnSpc>
                <a:spcPts val="2700"/>
              </a:lnSpc>
              <a:buSzPct val="100000"/>
              <a:buNone/>
            </a:pPr>
            <a:r>
              <a:rPr lang="en-US" sz="170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Kaggle Student Performance Dataset:</a:t>
            </a:r>
            <a:r>
              <a:rPr lang="en-US" sz="17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a:t>
            </a:r>
            <a:r>
              <a:rPr lang="en-US" sz="1700" u="sng" dirty="0">
                <a:solidFill>
                  <a:srgbClr val="1E1E1A"/>
                </a:solidFill>
                <a:latin typeface="Roboto Condensed" panose="02000000000000000000" pitchFamily="34" charset="0"/>
                <a:ea typeface="Roboto Condensed" panose="02000000000000000000" pitchFamily="34" charset="-122"/>
                <a:cs typeface="Roboto Condensed" panose="02000000000000000000" pitchFamily="34" charset="-120"/>
              </a:rPr>
              <a:t>https://www.kaggle.com/code/znielsen/analysis-and-prediction-of-student-performance</a:t>
            </a:r>
            <a:endParaRPr lang="en-US" sz="1700" dirty="0"/>
          </a:p>
        </p:txBody>
      </p:sp>
      <p:sp>
        <p:nvSpPr>
          <p:cNvPr id="5" name="Text 2"/>
          <p:cNvSpPr/>
          <p:nvPr/>
        </p:nvSpPr>
        <p:spPr>
          <a:xfrm>
            <a:off x="759381" y="6167755"/>
            <a:ext cx="13111639" cy="347067"/>
          </a:xfrm>
          <a:prstGeom prst="rect">
            <a:avLst/>
          </a:prstGeom>
          <a:noFill/>
        </p:spPr>
        <p:txBody>
          <a:bodyPr wrap="none" lIns="0" tIns="0" rIns="0" bIns="0" rtlCol="0" anchor="t"/>
          <a:lstStyle/>
          <a:p>
            <a:pPr marL="0" indent="0" algn="l">
              <a:lnSpc>
                <a:spcPts val="2700"/>
              </a:lnSpc>
              <a:buSzPct val="100000"/>
              <a:buNone/>
            </a:pPr>
            <a:r>
              <a:rPr lang="en-US" b="1" dirty="0">
                <a:solidFill>
                  <a:srgbClr val="55575A"/>
                </a:solidFill>
                <a:latin typeface="Times New Roman" panose="02020603050405020304" charset="0"/>
                <a:ea typeface="Roboto Condensed" panose="02000000000000000000" pitchFamily="34" charset="-122"/>
                <a:cs typeface="Times New Roman" panose="02020603050405020304" charset="0"/>
              </a:rPr>
              <a:t>Python Pandas Documentation: </a:t>
            </a:r>
            <a:r>
              <a:rPr lang="en-US" b="1" u="sng" dirty="0">
                <a:solidFill>
                  <a:srgbClr val="1E1E1A"/>
                </a:solidFill>
                <a:latin typeface="Times New Roman" panose="02020603050405020304" charset="0"/>
                <a:ea typeface="Roboto Condensed" panose="02000000000000000000" pitchFamily="34" charset="-122"/>
                <a:cs typeface="Times New Roman" panose="02020603050405020304" charset="0"/>
              </a:rPr>
              <a:t>https://pandas.pydata.org</a:t>
            </a:r>
            <a:r>
              <a:rPr lang="en-US" sz="1700" u="sng" dirty="0">
                <a:solidFill>
                  <a:srgbClr val="1E1E1A"/>
                </a:solidFill>
                <a:latin typeface="Times New Roman" panose="02020603050405020304" charset="0"/>
                <a:ea typeface="Roboto Condensed" panose="02000000000000000000" pitchFamily="34" charset="-122"/>
                <a:cs typeface="Times New Roman" panose="02020603050405020304" charset="0"/>
              </a:rPr>
              <a:t>/</a:t>
            </a:r>
            <a:endParaRPr lang="en-US" sz="1700" dirty="0">
              <a:latin typeface="Times New Roman" panose="02020603050405020304" charset="0"/>
              <a:cs typeface="Times New Roman" panose="02020603050405020304" charset="0"/>
            </a:endParaRPr>
          </a:p>
        </p:txBody>
      </p:sp>
      <p:sp>
        <p:nvSpPr>
          <p:cNvPr id="6" name="Text 3"/>
          <p:cNvSpPr/>
          <p:nvPr/>
        </p:nvSpPr>
        <p:spPr>
          <a:xfrm>
            <a:off x="759381" y="6515100"/>
            <a:ext cx="13111639" cy="347067"/>
          </a:xfrm>
          <a:prstGeom prst="rect">
            <a:avLst/>
          </a:prstGeom>
          <a:noFill/>
        </p:spPr>
        <p:txBody>
          <a:bodyPr wrap="none" lIns="0" tIns="0" rIns="0" bIns="0" rtlCol="0" anchor="t"/>
          <a:lstStyle/>
          <a:p>
            <a:pPr marL="0" indent="0" algn="l">
              <a:lnSpc>
                <a:spcPts val="2700"/>
              </a:lnSpc>
              <a:buSzPct val="100000"/>
              <a:buNone/>
            </a:pPr>
            <a:r>
              <a:rPr lang="en-US" sz="170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Matplotlib Documentation:</a:t>
            </a:r>
            <a:r>
              <a:rPr lang="en-US" sz="170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a:t>
            </a:r>
            <a:r>
              <a:rPr lang="en-US" sz="1700" u="sng" dirty="0">
                <a:solidFill>
                  <a:srgbClr val="1E1E1A"/>
                </a:solidFill>
                <a:latin typeface="Roboto Condensed" panose="02000000000000000000" pitchFamily="34" charset="0"/>
                <a:ea typeface="Roboto Condensed" panose="02000000000000000000" pitchFamily="34" charset="-122"/>
                <a:cs typeface="Roboto Condensed" panose="02000000000000000000" pitchFamily="34" charset="-120"/>
              </a:rPr>
              <a:t>https://matplotlib.org/</a:t>
            </a:r>
            <a:endParaRPr lang="en-US" sz="1700" dirty="0"/>
          </a:p>
        </p:txBody>
      </p:sp>
      <p:sp>
        <p:nvSpPr>
          <p:cNvPr id="7" name="Text 4"/>
          <p:cNvSpPr/>
          <p:nvPr/>
        </p:nvSpPr>
        <p:spPr>
          <a:xfrm>
            <a:off x="759381" y="6938010"/>
            <a:ext cx="13111639" cy="694134"/>
          </a:xfrm>
          <a:prstGeom prst="rect">
            <a:avLst/>
          </a:prstGeom>
          <a:noFill/>
        </p:spPr>
        <p:txBody>
          <a:bodyPr wrap="square" lIns="0" tIns="0" rIns="0" bIns="0" rtlCol="0" anchor="t"/>
          <a:lstStyle/>
          <a:p>
            <a:pPr marL="0" indent="0" algn="l">
              <a:lnSpc>
                <a:spcPts val="2700"/>
              </a:lnSpc>
              <a:buSzPct val="100000"/>
              <a:buNone/>
            </a:pPr>
            <a:r>
              <a:rPr lang="en-US" sz="170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Analytics Vidhya Guide on Student Performance Analysis:</a:t>
            </a:r>
            <a:r>
              <a:rPr lang="en-US" sz="1700" u="sng"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https://www.analyticsvidhya.com/blog/2023/04/student-performance-analysis-and-prediction</a:t>
            </a:r>
            <a:endParaRPr lang="en-US" sz="1700" u="sng" dirty="0"/>
          </a:p>
        </p:txBody>
      </p:sp>
      <p:sp>
        <p:nvSpPr>
          <p:cNvPr id="20" name="Text Box 19"/>
          <p:cNvSpPr txBox="1"/>
          <p:nvPr/>
        </p:nvSpPr>
        <p:spPr>
          <a:xfrm>
            <a:off x="12665075" y="7550785"/>
            <a:ext cx="1965325" cy="558165"/>
          </a:xfrm>
          <a:prstGeom prst="rect">
            <a:avLst/>
          </a:prstGeom>
          <a:solidFill>
            <a:schemeClr val="bg2"/>
          </a:solidFill>
        </p:spPr>
        <p:txBody>
          <a:bodyPr wrap="square" rtlCol="0">
            <a:noAutofit/>
          </a:bodyPr>
          <a:lstStyle/>
          <a:p>
            <a:endParaRPr lang="en-US"/>
          </a:p>
        </p:txBody>
      </p:sp>
      <p:sp>
        <p:nvSpPr>
          <p:cNvPr id="8" name="Text Box 7"/>
          <p:cNvSpPr txBox="1"/>
          <p:nvPr/>
        </p:nvSpPr>
        <p:spPr>
          <a:xfrm>
            <a:off x="669290" y="7707630"/>
            <a:ext cx="13201650" cy="368300"/>
          </a:xfrm>
          <a:prstGeom prst="rect">
            <a:avLst/>
          </a:prstGeom>
          <a:noFill/>
        </p:spPr>
        <p:txBody>
          <a:bodyPr wrap="square" rtlCol="0">
            <a:spAutoFit/>
          </a:bodyPr>
          <a:lstStyle/>
          <a:p>
            <a:r>
              <a:rPr lang="en-US" b="1">
                <a:latin typeface="Times New Roman" panose="02020603050405020304" charset="0"/>
                <a:cs typeface="Times New Roman" panose="02020603050405020304" charset="0"/>
              </a:rPr>
              <a:t>Github Repository ink:</a:t>
            </a:r>
            <a:r>
              <a:rPr lang="en-US" altLang="en-US" b="1" u="sng">
                <a:solidFill>
                  <a:schemeClr val="tx1"/>
                </a:solidFill>
              </a:rPr>
              <a:t>https://github.com/saba722279/Students-Performance-analysis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19944" y="1055132"/>
            <a:ext cx="5239583" cy="654963"/>
          </a:xfrm>
          <a:prstGeom prst="rect">
            <a:avLst/>
          </a:prstGeom>
          <a:noFill/>
        </p:spPr>
        <p:txBody>
          <a:bodyPr wrap="none" lIns="0" tIns="0" rIns="0" bIns="0" rtlCol="0" anchor="t"/>
          <a:lstStyle/>
          <a:p>
            <a:pPr marL="0" indent="0" algn="l">
              <a:lnSpc>
                <a:spcPts val="5150"/>
              </a:lnSpc>
              <a:buNone/>
            </a:pPr>
            <a:r>
              <a:rPr lang="en-US" sz="4100" b="1" dirty="0">
                <a:solidFill>
                  <a:srgbClr val="0C0D0F"/>
                </a:solidFill>
                <a:latin typeface="Hubot Sans Bold" pitchFamily="34" charset="0"/>
                <a:ea typeface="Hubot Sans Bold" pitchFamily="34" charset="-122"/>
                <a:cs typeface="Hubot Sans Bold" pitchFamily="34" charset="-120"/>
              </a:rPr>
              <a:t>THANK YOU</a:t>
            </a:r>
            <a:endParaRPr lang="en-US" sz="4100" dirty="0"/>
          </a:p>
        </p:txBody>
      </p:sp>
      <p:sp>
        <p:nvSpPr>
          <p:cNvPr id="4" name="Text 1"/>
          <p:cNvSpPr/>
          <p:nvPr/>
        </p:nvSpPr>
        <p:spPr>
          <a:xfrm>
            <a:off x="6219944" y="2024420"/>
            <a:ext cx="7676912" cy="3929420"/>
          </a:xfrm>
          <a:prstGeom prst="rect">
            <a:avLst/>
          </a:prstGeom>
          <a:noFill/>
        </p:spPr>
        <p:txBody>
          <a:bodyPr wrap="square" lIns="0" tIns="0" rIns="0" bIns="0" rtlCol="0" anchor="t"/>
          <a:lstStyle/>
          <a:p>
            <a:pPr marL="0" indent="0" algn="l">
              <a:lnSpc>
                <a:spcPts val="10300"/>
              </a:lnSpc>
              <a:buNone/>
            </a:pPr>
            <a:r>
              <a:rPr lang="en-US" sz="8250" b="1" dirty="0">
                <a:solidFill>
                  <a:srgbClr val="0C0D0F"/>
                </a:solidFill>
                <a:latin typeface="Hubot Sans Bold" pitchFamily="34" charset="0"/>
                <a:ea typeface="Hubot Sans Bold" pitchFamily="34" charset="-122"/>
                <a:cs typeface="Hubot Sans Bold" pitchFamily="34" charset="-120"/>
              </a:rPr>
              <a:t>QUESTIONS &amp; DISCUSSION</a:t>
            </a:r>
            <a:endParaRPr lang="en-US" sz="8250" dirty="0"/>
          </a:p>
        </p:txBody>
      </p:sp>
      <p:sp>
        <p:nvSpPr>
          <p:cNvPr id="5" name="Text 2"/>
          <p:cNvSpPr/>
          <p:nvPr/>
        </p:nvSpPr>
        <p:spPr>
          <a:xfrm>
            <a:off x="6219944" y="6268164"/>
            <a:ext cx="7676912" cy="335280"/>
          </a:xfrm>
          <a:prstGeom prst="rect">
            <a:avLst/>
          </a:prstGeom>
          <a:noFill/>
        </p:spPr>
        <p:txBody>
          <a:bodyPr wrap="none" lIns="0" tIns="0" rIns="0" bIns="0" rtlCol="0" anchor="t"/>
          <a:lstStyle/>
          <a:p>
            <a:pPr marL="0" indent="0" algn="l">
              <a:lnSpc>
                <a:spcPts val="2600"/>
              </a:lnSpc>
              <a:buNone/>
            </a:pPr>
            <a:r>
              <a:rPr lang="en-US" sz="165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We welcome your questions and any further discussion on this analysis.</a:t>
            </a:r>
            <a:endParaRPr lang="en-US" sz="1650" dirty="0"/>
          </a:p>
        </p:txBody>
      </p:sp>
      <p:sp>
        <p:nvSpPr>
          <p:cNvPr id="6" name="Text 3"/>
          <p:cNvSpPr/>
          <p:nvPr/>
        </p:nvSpPr>
        <p:spPr>
          <a:xfrm>
            <a:off x="6219944" y="6839188"/>
            <a:ext cx="7676912" cy="335280"/>
          </a:xfrm>
          <a:prstGeom prst="rect">
            <a:avLst/>
          </a:prstGeom>
          <a:noFill/>
        </p:spPr>
        <p:txBody>
          <a:bodyPr wrap="none" lIns="0" tIns="0" rIns="0" bIns="0" rtlCol="0" anchor="t"/>
          <a:lstStyle/>
          <a:p>
            <a:pPr marL="0" indent="0" algn="l">
              <a:lnSpc>
                <a:spcPts val="2600"/>
              </a:lnSpc>
              <a:buNone/>
            </a:pPr>
            <a:r>
              <a:rPr lang="en-US" sz="1650" b="1"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Contact:</a:t>
            </a:r>
            <a:r>
              <a:rPr lang="en-US" sz="1650" dirty="0">
                <a:solidFill>
                  <a:srgbClr val="55575A"/>
                </a:solidFill>
                <a:latin typeface="Roboto Condensed" panose="02000000000000000000" pitchFamily="34" charset="0"/>
                <a:ea typeface="Roboto Condensed" panose="02000000000000000000" pitchFamily="34" charset="-122"/>
                <a:cs typeface="Roboto Condensed" panose="02000000000000000000" pitchFamily="34" charset="-120"/>
              </a:rPr>
              <a:t> saba.zaman.waada@gmail.com</a:t>
            </a:r>
            <a:endParaRPr lang="en-US" sz="1650" dirty="0"/>
          </a:p>
        </p:txBody>
      </p:sp>
      <p:sp>
        <p:nvSpPr>
          <p:cNvPr id="20" name="Text Box 19"/>
          <p:cNvSpPr txBox="1"/>
          <p:nvPr/>
        </p:nvSpPr>
        <p:spPr>
          <a:xfrm>
            <a:off x="12665075" y="7550785"/>
            <a:ext cx="1965325" cy="558165"/>
          </a:xfrm>
          <a:prstGeom prst="rect">
            <a:avLst/>
          </a:prstGeom>
          <a:solidFill>
            <a:schemeClr val="bg2"/>
          </a:solidFill>
        </p:spPr>
        <p:txBody>
          <a:bodyPr wrap="square" rtlCol="0">
            <a:noAutofit/>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435</Words>
  <Application>Microsoft Office PowerPoint</Application>
  <PresentationFormat>Custom</PresentationFormat>
  <Paragraphs>86</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Times New Roman</vt:lpstr>
      <vt:lpstr>Wingdings</vt:lpstr>
      <vt:lpstr>Nobile</vt:lpstr>
      <vt:lpstr>Calibri</vt:lpstr>
      <vt:lpstr>Hubot Sans Bold</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786</dc:creator>
  <cp:lastModifiedBy>786</cp:lastModifiedBy>
  <cp:revision>7</cp:revision>
  <dcterms:created xsi:type="dcterms:W3CDTF">2025-12-26T08:44:00Z</dcterms:created>
  <dcterms:modified xsi:type="dcterms:W3CDTF">2026-01-07T08:20:43Z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FEEFE14A0B954D4385350CDA250BEF6E_13</vt:lpwstr>
  </property>
  <property fmtid="{D5CDD505-2E9C-101B-9397-08002B2CF9AE}" pid="3" name="KSOProductBuildVer">
    <vt:lpwstr>1033-12.2.0.23196</vt:lpwstr>
  </property>
</Properties>
</file>